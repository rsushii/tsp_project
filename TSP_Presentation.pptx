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78" r:id="rId4"/>
    <p:sldId id="258" r:id="rId5"/>
    <p:sldId id="277" r:id="rId6"/>
    <p:sldId id="276" r:id="rId7"/>
    <p:sldId id="259" r:id="rId8"/>
    <p:sldId id="260" r:id="rId9"/>
    <p:sldId id="261" r:id="rId10"/>
    <p:sldId id="279" r:id="rId11"/>
    <p:sldId id="269" r:id="rId12"/>
    <p:sldId id="280" r:id="rId13"/>
    <p:sldId id="281" r:id="rId14"/>
    <p:sldId id="271" r:id="rId15"/>
    <p:sldId id="263" r:id="rId16"/>
    <p:sldId id="282" r:id="rId17"/>
    <p:sldId id="272" r:id="rId18"/>
    <p:sldId id="273" r:id="rId19"/>
    <p:sldId id="283" r:id="rId20"/>
    <p:sldId id="275" r:id="rId21"/>
    <p:sldId id="285" r:id="rId22"/>
    <p:sldId id="284" r:id="rId23"/>
    <p:sldId id="265" r:id="rId24"/>
    <p:sldId id="266" r:id="rId25"/>
    <p:sldId id="267" r:id="rId26"/>
    <p:sldId id="268" r:id="rId27"/>
    <p:sldId id="286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2E86"/>
    <a:srgbClr val="8E42F4"/>
    <a:srgbClr val="6539C3"/>
    <a:srgbClr val="072552"/>
    <a:srgbClr val="5537AE"/>
    <a:srgbClr val="4D36A4"/>
    <a:srgbClr val="122B5C"/>
    <a:srgbClr val="373B44"/>
    <a:srgbClr val="4286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48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FBA95-8BD9-4205-AFE0-0AE722B83C8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A657C8-DB87-4F37-8E10-3568697E8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92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A657C8-DB87-4F37-8E10-3568697E849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0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table summarizes the raw experimental results, including the number of cities in each dataset as well as the tour length and runtime produced by each algorithm.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A657C8-DB87-4F37-8E10-3568697E849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972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D173F-346C-BBAE-FB58-95C4FAED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91949-D48A-B35F-004D-570275C21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C949A-AAA5-E445-5B9B-9187F2C8F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table summarizes the raw experimental results, including the number of cities in each dataset as well as the tour length and runtime produced by each algorithm.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FFD2A-09F0-9382-ABAD-294CF5AF0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A657C8-DB87-4F37-8E10-3568697E849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38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72552"/>
            </a:gs>
            <a:gs pos="85000">
              <a:srgbClr val="8E42F4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2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2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Traveling Salesman Problem (TSP)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975498"/>
            <a:ext cx="5032744" cy="8700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Alex Keller, Ryan Leacock, Jimmy Finnegan, Graham Baker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4090" y="2857500"/>
            <a:ext cx="438382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What is the TSP?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A496291-AD9D-9062-0070-4BBC927312E2}"/>
              </a:ext>
            </a:extLst>
          </p:cNvPr>
          <p:cNvGrpSpPr/>
          <p:nvPr/>
        </p:nvGrpSpPr>
        <p:grpSpPr>
          <a:xfrm>
            <a:off x="4031310" y="8146111"/>
            <a:ext cx="4129380" cy="6858000"/>
            <a:chOff x="4031310" y="0"/>
            <a:chExt cx="412938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DFEB062-21DA-0798-3488-30A5D8B63C2C}"/>
                </a:ext>
              </a:extLst>
            </p:cNvPr>
            <p:cNvSpPr/>
            <p:nvPr/>
          </p:nvSpPr>
          <p:spPr>
            <a:xfrm>
              <a:off x="4031310" y="0"/>
              <a:ext cx="4129380" cy="6858000"/>
            </a:xfrm>
            <a:prstGeom prst="rect">
              <a:avLst/>
            </a:prstGeom>
            <a:solidFill>
              <a:srgbClr val="6539C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ED45800-C88D-F24E-693D-AFA9FC91D5A4}"/>
                </a:ext>
              </a:extLst>
            </p:cNvPr>
            <p:cNvSpPr txBox="1"/>
            <p:nvPr/>
          </p:nvSpPr>
          <p:spPr>
            <a:xfrm>
              <a:off x="4031310" y="1166842"/>
              <a:ext cx="4129380" cy="45243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1"/>
              <a:r>
                <a:rPr lang="en-US" sz="36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Find the shortest possible route that visits each city exactly once and returns to the start.</a:t>
              </a:r>
            </a:p>
            <a:p>
              <a:pPr algn="ctr"/>
              <a:endParaRPr lang="en-US" sz="36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F0AE020-A8D2-500C-6F8B-EDC2606AFE2B}"/>
              </a:ext>
            </a:extLst>
          </p:cNvPr>
          <p:cNvGrpSpPr/>
          <p:nvPr/>
        </p:nvGrpSpPr>
        <p:grpSpPr>
          <a:xfrm>
            <a:off x="0" y="6858000"/>
            <a:ext cx="4031310" cy="6858000"/>
            <a:chOff x="0" y="0"/>
            <a:chExt cx="403131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E2466A-F095-B580-9712-FA8D260FFF64}"/>
                </a:ext>
              </a:extLst>
            </p:cNvPr>
            <p:cNvSpPr/>
            <p:nvPr/>
          </p:nvSpPr>
          <p:spPr>
            <a:xfrm>
              <a:off x="0" y="0"/>
              <a:ext cx="4031310" cy="6858000"/>
            </a:xfrm>
            <a:prstGeom prst="rect">
              <a:avLst/>
            </a:prstGeom>
            <a:solidFill>
              <a:srgbClr val="332E8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5FB4B2A-C20E-6719-CE21-5A1FFE006D6E}"/>
                </a:ext>
              </a:extLst>
            </p:cNvPr>
            <p:cNvSpPr txBox="1"/>
            <p:nvPr/>
          </p:nvSpPr>
          <p:spPr>
            <a:xfrm>
              <a:off x="0" y="1188696"/>
              <a:ext cx="4031310" cy="286232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1"/>
              <a:r>
                <a:rPr lang="en-US" sz="36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Given a list of cities and distances between them:</a:t>
              </a:r>
            </a:p>
            <a:p>
              <a:pPr algn="ctr"/>
              <a:endParaRPr lang="en-US" sz="36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038722-8C50-6C15-C9D4-E20A1F09A882}"/>
              </a:ext>
            </a:extLst>
          </p:cNvPr>
          <p:cNvGrpSpPr/>
          <p:nvPr/>
        </p:nvGrpSpPr>
        <p:grpSpPr>
          <a:xfrm>
            <a:off x="8160690" y="9477857"/>
            <a:ext cx="4129380" cy="6858000"/>
            <a:chOff x="8160690" y="0"/>
            <a:chExt cx="412938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A84B762-FC27-E492-9D04-10F16DE1EB96}"/>
                </a:ext>
              </a:extLst>
            </p:cNvPr>
            <p:cNvSpPr/>
            <p:nvPr/>
          </p:nvSpPr>
          <p:spPr>
            <a:xfrm>
              <a:off x="8160690" y="0"/>
              <a:ext cx="4031310" cy="6858000"/>
            </a:xfrm>
            <a:prstGeom prst="rect">
              <a:avLst/>
            </a:prstGeom>
            <a:solidFill>
              <a:srgbClr val="8E42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ADBF4DC-31DF-525E-4832-C86665906F7F}"/>
                </a:ext>
              </a:extLst>
            </p:cNvPr>
            <p:cNvSpPr txBox="1"/>
            <p:nvPr/>
          </p:nvSpPr>
          <p:spPr>
            <a:xfrm>
              <a:off x="8160690" y="1417638"/>
              <a:ext cx="4129380" cy="230832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1"/>
              <a:r>
                <a:rPr lang="en-US" sz="36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NP-hard optimization problem.</a:t>
              </a:r>
            </a:p>
            <a:p>
              <a:pPr algn="ctr"/>
              <a:endParaRPr lang="en-US" sz="36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FABD5-29E5-A097-8CA2-7C5A36036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AFD3F912-95CE-7F43-2C26-DFE4BE23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090" y="2857500"/>
            <a:ext cx="438382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What is the TSP?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00013CA-2419-A0C7-4A03-9847A294102C}"/>
              </a:ext>
            </a:extLst>
          </p:cNvPr>
          <p:cNvGrpSpPr/>
          <p:nvPr/>
        </p:nvGrpSpPr>
        <p:grpSpPr>
          <a:xfrm>
            <a:off x="4031310" y="0"/>
            <a:ext cx="4129380" cy="6858000"/>
            <a:chOff x="4031310" y="0"/>
            <a:chExt cx="412938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0842CAF-A718-1DEC-7E96-F73F7ACFF698}"/>
                </a:ext>
              </a:extLst>
            </p:cNvPr>
            <p:cNvSpPr/>
            <p:nvPr/>
          </p:nvSpPr>
          <p:spPr>
            <a:xfrm>
              <a:off x="4031310" y="0"/>
              <a:ext cx="4129380" cy="6858000"/>
            </a:xfrm>
            <a:prstGeom prst="rect">
              <a:avLst/>
            </a:prstGeom>
            <a:solidFill>
              <a:srgbClr val="6539C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F69860-3F09-86A2-16BE-4BFC6D61F274}"/>
                </a:ext>
              </a:extLst>
            </p:cNvPr>
            <p:cNvSpPr txBox="1"/>
            <p:nvPr/>
          </p:nvSpPr>
          <p:spPr>
            <a:xfrm>
              <a:off x="4031310" y="1166842"/>
              <a:ext cx="4129380" cy="45243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1"/>
              <a:r>
                <a:rPr lang="en-US" sz="36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Find the shortest possible route that visits each city exactly once and returns to the start.</a:t>
              </a:r>
            </a:p>
            <a:p>
              <a:pPr algn="ctr"/>
              <a:endParaRPr lang="en-US" sz="36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DA7DCDE-C4DD-B5B1-0F08-3AA050EA581E}"/>
              </a:ext>
            </a:extLst>
          </p:cNvPr>
          <p:cNvGrpSpPr/>
          <p:nvPr/>
        </p:nvGrpSpPr>
        <p:grpSpPr>
          <a:xfrm>
            <a:off x="0" y="0"/>
            <a:ext cx="4031310" cy="6858000"/>
            <a:chOff x="0" y="0"/>
            <a:chExt cx="403131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6F9D844-4DD4-2042-2E99-B9B124C9221E}"/>
                </a:ext>
              </a:extLst>
            </p:cNvPr>
            <p:cNvSpPr/>
            <p:nvPr/>
          </p:nvSpPr>
          <p:spPr>
            <a:xfrm>
              <a:off x="0" y="0"/>
              <a:ext cx="4031310" cy="6858000"/>
            </a:xfrm>
            <a:prstGeom prst="rect">
              <a:avLst/>
            </a:prstGeom>
            <a:solidFill>
              <a:srgbClr val="332E8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ED547DF-C47D-5119-6757-6E867330A98D}"/>
                </a:ext>
              </a:extLst>
            </p:cNvPr>
            <p:cNvSpPr txBox="1"/>
            <p:nvPr/>
          </p:nvSpPr>
          <p:spPr>
            <a:xfrm>
              <a:off x="0" y="1188696"/>
              <a:ext cx="4031310" cy="286232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1"/>
              <a:r>
                <a:rPr lang="en-US" sz="36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Given a list of cities and distances between them:</a:t>
              </a:r>
            </a:p>
            <a:p>
              <a:pPr algn="ctr"/>
              <a:endParaRPr lang="en-US" sz="36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328F6EE-B619-AC45-6446-AD9BDEBC0A14}"/>
              </a:ext>
            </a:extLst>
          </p:cNvPr>
          <p:cNvGrpSpPr/>
          <p:nvPr/>
        </p:nvGrpSpPr>
        <p:grpSpPr>
          <a:xfrm>
            <a:off x="8160690" y="0"/>
            <a:ext cx="4129380" cy="6858000"/>
            <a:chOff x="8160690" y="0"/>
            <a:chExt cx="4129380" cy="685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2D068E5-33BE-2C1A-8331-502256187055}"/>
                </a:ext>
              </a:extLst>
            </p:cNvPr>
            <p:cNvSpPr/>
            <p:nvPr/>
          </p:nvSpPr>
          <p:spPr>
            <a:xfrm>
              <a:off x="8160690" y="0"/>
              <a:ext cx="4031310" cy="6858000"/>
            </a:xfrm>
            <a:prstGeom prst="rect">
              <a:avLst/>
            </a:prstGeom>
            <a:solidFill>
              <a:srgbClr val="8E42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DCFC824-4F6C-C33B-7A68-0BA071EF84AC}"/>
                </a:ext>
              </a:extLst>
            </p:cNvPr>
            <p:cNvSpPr txBox="1"/>
            <p:nvPr/>
          </p:nvSpPr>
          <p:spPr>
            <a:xfrm>
              <a:off x="8160690" y="1417638"/>
              <a:ext cx="4129380" cy="230832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1"/>
              <a:r>
                <a:rPr lang="en-US" sz="3600" dirty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NP-hard optimization problem.</a:t>
              </a:r>
            </a:p>
            <a:p>
              <a:pPr algn="ctr"/>
              <a:endParaRPr lang="en-US" sz="3600" dirty="0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0652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  <a:latin typeface="Avenir Next LT Pro Demi" panose="020B0704020202020204" pitchFamily="34" charset="0"/>
              </a:rPr>
              <a:t>Why TSP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Avenir Next LT Pro Demi" panose="020B07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Complexity explodes as cities increase.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venir Next LT Pro Demi" panose="020B0704020202020204" pitchFamily="34" charset="0"/>
              </a:rPr>
              <a:t>Perfect testing ground for studying optimization algorithms.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A593A-A836-BDBE-047D-12FC59F8D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0FC03-95FF-63A5-FE6F-B8B83B507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6157" y="2866529"/>
            <a:ext cx="6419686" cy="1143000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Real world usage?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1A4F57-2812-3061-CDF8-BD6A141455A9}"/>
              </a:ext>
            </a:extLst>
          </p:cNvPr>
          <p:cNvGrpSpPr/>
          <p:nvPr/>
        </p:nvGrpSpPr>
        <p:grpSpPr>
          <a:xfrm>
            <a:off x="-2286395" y="9029"/>
            <a:ext cx="3505333" cy="6858000"/>
            <a:chOff x="9147050" y="-9029"/>
            <a:chExt cx="3505333" cy="6858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CCF00CA-7AD7-D66B-D542-033393ED6775}"/>
                </a:ext>
              </a:extLst>
            </p:cNvPr>
            <p:cNvGrpSpPr/>
            <p:nvPr/>
          </p:nvGrpSpPr>
          <p:grpSpPr>
            <a:xfrm>
              <a:off x="9147050" y="-9029"/>
              <a:ext cx="3505333" cy="6858000"/>
              <a:chOff x="0" y="10537"/>
              <a:chExt cx="3505333" cy="6858000"/>
            </a:xfrm>
            <a:solidFill>
              <a:srgbClr val="8E42F4"/>
            </a:solidFill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BE0D543-9DC7-D7AB-9B2D-1D930EDFACC4}"/>
                  </a:ext>
                </a:extLst>
              </p:cNvPr>
              <p:cNvSpPr/>
              <p:nvPr/>
            </p:nvSpPr>
            <p:spPr>
              <a:xfrm>
                <a:off x="0" y="10537"/>
                <a:ext cx="3044952" cy="68580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/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396FAD-9F5B-97B6-14EC-34B6F23DD2E6}"/>
                  </a:ext>
                </a:extLst>
              </p:cNvPr>
              <p:cNvSpPr txBox="1"/>
              <p:nvPr/>
            </p:nvSpPr>
            <p:spPr>
              <a:xfrm>
                <a:off x="116767" y="2070206"/>
                <a:ext cx="2811416" cy="52322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bg2"/>
                    </a:solidFill>
                    <a:latin typeface="Avenir Next LT Pro Demi" panose="020B0704020202020204" pitchFamily="34" charset="0"/>
                  </a:rPr>
                  <a:t>Networking</a:t>
                </a:r>
              </a:p>
            </p:txBody>
          </p:sp>
          <p:sp>
            <p:nvSpPr>
              <p:cNvPr id="9" name="Isosceles Triangle 8">
                <a:extLst>
                  <a:ext uri="{FF2B5EF4-FFF2-40B4-BE49-F238E27FC236}">
                    <a16:creationId xmlns:a16="http://schemas.microsoft.com/office/drawing/2014/main" id="{EB80C4B7-6842-910B-35E1-1E45644B2240}"/>
                  </a:ext>
                </a:extLst>
              </p:cNvPr>
              <p:cNvSpPr/>
              <p:nvPr/>
            </p:nvSpPr>
            <p:spPr>
              <a:xfrm rot="5400000">
                <a:off x="2702450" y="536695"/>
                <a:ext cx="1145383" cy="460382"/>
              </a:xfrm>
              <a:prstGeom prst="triangle">
                <a:avLst>
                  <a:gd name="adj" fmla="val 50000"/>
                </a:avLst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/>
                  </a:solidFill>
                  <a:latin typeface="Avenir Next LT Pro Demi" panose="020B0704020202020204" pitchFamily="34" charset="0"/>
                </a:endParaRPr>
              </a:p>
            </p:txBody>
          </p:sp>
        </p:grpSp>
        <p:pic>
          <p:nvPicPr>
            <p:cNvPr id="6" name="Graphic 5" descr="Wireless router with solid fill">
              <a:extLst>
                <a:ext uri="{FF2B5EF4-FFF2-40B4-BE49-F238E27FC236}">
                  <a16:creationId xmlns:a16="http://schemas.microsoft.com/office/drawing/2014/main" id="{92829504-A1E0-1A5F-A4A4-11BAAE5E4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12325" y="928607"/>
              <a:ext cx="914400" cy="9144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FB37D1D-53C6-7123-D732-CA33E92E211D}"/>
              </a:ext>
            </a:extLst>
          </p:cNvPr>
          <p:cNvGrpSpPr/>
          <p:nvPr/>
        </p:nvGrpSpPr>
        <p:grpSpPr>
          <a:xfrm>
            <a:off x="-2491654" y="0"/>
            <a:ext cx="3486765" cy="6858000"/>
            <a:chOff x="6108466" y="-9029"/>
            <a:chExt cx="3486765" cy="68580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D3C32D0-3EC9-1B83-A749-ED76D9794FBB}"/>
                </a:ext>
              </a:extLst>
            </p:cNvPr>
            <p:cNvGrpSpPr/>
            <p:nvPr/>
          </p:nvGrpSpPr>
          <p:grpSpPr>
            <a:xfrm>
              <a:off x="6108466" y="-9029"/>
              <a:ext cx="3486765" cy="6858000"/>
              <a:chOff x="18568" y="-7521"/>
              <a:chExt cx="3486765" cy="6858000"/>
            </a:xfrm>
            <a:solidFill>
              <a:srgbClr val="6539C3"/>
            </a:solidFill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7B5259A-296A-E53B-52AD-A3D021B6D959}"/>
                  </a:ext>
                </a:extLst>
              </p:cNvPr>
              <p:cNvSpPr/>
              <p:nvPr/>
            </p:nvSpPr>
            <p:spPr>
              <a:xfrm>
                <a:off x="18568" y="-7521"/>
                <a:ext cx="3044952" cy="68580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/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CA40C51-DAB0-C5E9-FBF9-811C34977689}"/>
                  </a:ext>
                </a:extLst>
              </p:cNvPr>
              <p:cNvSpPr txBox="1"/>
              <p:nvPr/>
            </p:nvSpPr>
            <p:spPr>
              <a:xfrm>
                <a:off x="116767" y="2070206"/>
                <a:ext cx="2811416" cy="52322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bg2"/>
                    </a:solidFill>
                    <a:latin typeface="Avenir Next LT Pro Demi" panose="020B0704020202020204" pitchFamily="34" charset="0"/>
                  </a:rPr>
                  <a:t>Robotics</a:t>
                </a:r>
              </a:p>
            </p:txBody>
          </p:sp>
          <p:sp>
            <p:nvSpPr>
              <p:cNvPr id="15" name="Isosceles Triangle 14">
                <a:extLst>
                  <a:ext uri="{FF2B5EF4-FFF2-40B4-BE49-F238E27FC236}">
                    <a16:creationId xmlns:a16="http://schemas.microsoft.com/office/drawing/2014/main" id="{82CFA148-B615-FEE1-4B47-2A76BFC66FF3}"/>
                  </a:ext>
                </a:extLst>
              </p:cNvPr>
              <p:cNvSpPr/>
              <p:nvPr/>
            </p:nvSpPr>
            <p:spPr>
              <a:xfrm rot="5400000">
                <a:off x="2702450" y="536695"/>
                <a:ext cx="1145383" cy="460382"/>
              </a:xfrm>
              <a:prstGeom prst="triangle">
                <a:avLst>
                  <a:gd name="adj" fmla="val 50000"/>
                </a:avLst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/>
                  </a:solidFill>
                  <a:latin typeface="Avenir Next LT Pro Demi" panose="020B0704020202020204" pitchFamily="34" charset="0"/>
                </a:endParaRPr>
              </a:p>
            </p:txBody>
          </p:sp>
        </p:grpSp>
        <p:pic>
          <p:nvPicPr>
            <p:cNvPr id="12" name="Graphic 11" descr="Robot Hand with solid fill">
              <a:extLst>
                <a:ext uri="{FF2B5EF4-FFF2-40B4-BE49-F238E27FC236}">
                  <a16:creationId xmlns:a16="http://schemas.microsoft.com/office/drawing/2014/main" id="{D7C00445-0FAE-BFB0-D3BA-B823092B6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51992" y="928607"/>
              <a:ext cx="914400" cy="9144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7BCAD1A-DDDA-8E45-A1D8-A04D7F93814D}"/>
              </a:ext>
            </a:extLst>
          </p:cNvPr>
          <p:cNvGrpSpPr/>
          <p:nvPr/>
        </p:nvGrpSpPr>
        <p:grpSpPr>
          <a:xfrm>
            <a:off x="-2659441" y="-9029"/>
            <a:ext cx="3493133" cy="6858000"/>
            <a:chOff x="3038582" y="9029"/>
            <a:chExt cx="3493133" cy="6858000"/>
          </a:xfrm>
          <a:solidFill>
            <a:srgbClr val="332E86"/>
          </a:solidFill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0F4D0C7-4565-F550-42BC-F56B5653E06C}"/>
                </a:ext>
              </a:extLst>
            </p:cNvPr>
            <p:cNvGrpSpPr/>
            <p:nvPr/>
          </p:nvGrpSpPr>
          <p:grpSpPr>
            <a:xfrm>
              <a:off x="3038582" y="9029"/>
              <a:ext cx="3493133" cy="6858000"/>
              <a:chOff x="-6368" y="9783"/>
              <a:chExt cx="3493133" cy="6858000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3770E3C-626D-EC51-0827-960178E4D26A}"/>
                  </a:ext>
                </a:extLst>
              </p:cNvPr>
              <p:cNvSpPr/>
              <p:nvPr/>
            </p:nvSpPr>
            <p:spPr>
              <a:xfrm>
                <a:off x="-6368" y="9783"/>
                <a:ext cx="3044952" cy="68580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/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A3AFD75-7C33-0A2A-FE85-8E0C61222715}"/>
                  </a:ext>
                </a:extLst>
              </p:cNvPr>
              <p:cNvSpPr txBox="1"/>
              <p:nvPr/>
            </p:nvSpPr>
            <p:spPr>
              <a:xfrm>
                <a:off x="116767" y="2070206"/>
                <a:ext cx="2811416" cy="52322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bg2"/>
                    </a:solidFill>
                    <a:latin typeface="Avenir Next LT Pro Demi" panose="020B0704020202020204" pitchFamily="34" charset="0"/>
                  </a:rPr>
                  <a:t>Circuit Routing</a:t>
                </a:r>
              </a:p>
            </p:txBody>
          </p:sp>
          <p:sp>
            <p:nvSpPr>
              <p:cNvPr id="21" name="Isosceles Triangle 20">
                <a:extLst>
                  <a:ext uri="{FF2B5EF4-FFF2-40B4-BE49-F238E27FC236}">
                    <a16:creationId xmlns:a16="http://schemas.microsoft.com/office/drawing/2014/main" id="{429FEEBE-085C-EBB2-4D77-2C0BC9CD2090}"/>
                  </a:ext>
                </a:extLst>
              </p:cNvPr>
              <p:cNvSpPr/>
              <p:nvPr/>
            </p:nvSpPr>
            <p:spPr>
              <a:xfrm rot="5400000">
                <a:off x="2683882" y="536696"/>
                <a:ext cx="1145383" cy="460382"/>
              </a:xfrm>
              <a:prstGeom prst="triangle">
                <a:avLst>
                  <a:gd name="adj" fmla="val 50000"/>
                </a:avLst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/>
                  </a:solidFill>
                  <a:latin typeface="Avenir Next LT Pro Demi" panose="020B0704020202020204" pitchFamily="34" charset="0"/>
                </a:endParaRPr>
              </a:p>
            </p:txBody>
          </p:sp>
        </p:grpSp>
        <p:pic>
          <p:nvPicPr>
            <p:cNvPr id="18" name="Graphic 17" descr="Processor with solid fill">
              <a:extLst>
                <a:ext uri="{FF2B5EF4-FFF2-40B4-BE49-F238E27FC236}">
                  <a16:creationId xmlns:a16="http://schemas.microsoft.com/office/drawing/2014/main" id="{E4B140BB-D55E-95FD-2B59-DB1A91F6C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13408" y="928607"/>
              <a:ext cx="914400" cy="91440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537AC16-82F7-C2D8-1C4C-73E27E517BC2}"/>
              </a:ext>
            </a:extLst>
          </p:cNvPr>
          <p:cNvGrpSpPr/>
          <p:nvPr/>
        </p:nvGrpSpPr>
        <p:grpSpPr>
          <a:xfrm>
            <a:off x="-2895733" y="-9029"/>
            <a:ext cx="3505333" cy="6858000"/>
            <a:chOff x="0" y="-1"/>
            <a:chExt cx="3505333" cy="6858000"/>
          </a:xfrm>
          <a:solidFill>
            <a:srgbClr val="072552"/>
          </a:solid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578E140-FF80-1B02-4FD0-F732ADB16819}"/>
                </a:ext>
              </a:extLst>
            </p:cNvPr>
            <p:cNvGrpSpPr/>
            <p:nvPr/>
          </p:nvGrpSpPr>
          <p:grpSpPr>
            <a:xfrm>
              <a:off x="0" y="-1"/>
              <a:ext cx="3505333" cy="6858000"/>
              <a:chOff x="0" y="-1"/>
              <a:chExt cx="3505333" cy="6858000"/>
            </a:xfrm>
            <a:grpFill/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C3B777B-FE9C-9858-A614-05687AB704D1}"/>
                  </a:ext>
                </a:extLst>
              </p:cNvPr>
              <p:cNvSpPr/>
              <p:nvPr/>
            </p:nvSpPr>
            <p:spPr>
              <a:xfrm>
                <a:off x="0" y="-1"/>
                <a:ext cx="3044952" cy="68580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/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1810415-1FC0-A0E9-D6FF-0C21A72F3F3C}"/>
                  </a:ext>
                </a:extLst>
              </p:cNvPr>
              <p:cNvSpPr txBox="1"/>
              <p:nvPr/>
            </p:nvSpPr>
            <p:spPr>
              <a:xfrm>
                <a:off x="116767" y="2070206"/>
                <a:ext cx="2811416" cy="52322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bg2"/>
                    </a:solidFill>
                    <a:latin typeface="Avenir Next LT Pro Demi" panose="020B0704020202020204" pitchFamily="34" charset="0"/>
                  </a:rPr>
                  <a:t>Logistics</a:t>
                </a:r>
              </a:p>
            </p:txBody>
          </p:sp>
          <p:sp>
            <p:nvSpPr>
              <p:cNvPr id="27" name="Isosceles Triangle 26">
                <a:extLst>
                  <a:ext uri="{FF2B5EF4-FFF2-40B4-BE49-F238E27FC236}">
                    <a16:creationId xmlns:a16="http://schemas.microsoft.com/office/drawing/2014/main" id="{2802CBE2-6381-A21E-9CDE-C8A1F195E2A1}"/>
                  </a:ext>
                </a:extLst>
              </p:cNvPr>
              <p:cNvSpPr/>
              <p:nvPr/>
            </p:nvSpPr>
            <p:spPr>
              <a:xfrm rot="5400000">
                <a:off x="2702450" y="536695"/>
                <a:ext cx="1145383" cy="460382"/>
              </a:xfrm>
              <a:prstGeom prst="triangle">
                <a:avLst>
                  <a:gd name="adj" fmla="val 50000"/>
                </a:avLst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/>
                  </a:solidFill>
                  <a:latin typeface="Avenir Next LT Pro Demi" panose="020B0704020202020204" pitchFamily="34" charset="0"/>
                </a:endParaRPr>
              </a:p>
            </p:txBody>
          </p:sp>
        </p:grpSp>
        <p:pic>
          <p:nvPicPr>
            <p:cNvPr id="24" name="Graphic 23" descr="Box with solid fill">
              <a:extLst>
                <a:ext uri="{FF2B5EF4-FFF2-40B4-BE49-F238E27FC236}">
                  <a16:creationId xmlns:a16="http://schemas.microsoft.com/office/drawing/2014/main" id="{DC6F3663-D6FB-4BB2-7382-9DF640E11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65275" y="928607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2539157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C17E8-804E-8326-ED27-F4E48D4F6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>
            <a:extLst>
              <a:ext uri="{FF2B5EF4-FFF2-40B4-BE49-F238E27FC236}">
                <a16:creationId xmlns:a16="http://schemas.microsoft.com/office/drawing/2014/main" id="{3148220A-E49A-CD26-342F-9CBE97AD0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6157" y="2866529"/>
            <a:ext cx="6419686" cy="1143000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Real world usage?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B6266CE-F5FE-447E-628F-544C855AB702}"/>
              </a:ext>
            </a:extLst>
          </p:cNvPr>
          <p:cNvGrpSpPr/>
          <p:nvPr/>
        </p:nvGrpSpPr>
        <p:grpSpPr>
          <a:xfrm>
            <a:off x="9116282" y="-9029"/>
            <a:ext cx="3505333" cy="6858000"/>
            <a:chOff x="9147050" y="-9029"/>
            <a:chExt cx="3505333" cy="68580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250D55A-8669-79B4-35B1-749670F77171}"/>
                </a:ext>
              </a:extLst>
            </p:cNvPr>
            <p:cNvGrpSpPr/>
            <p:nvPr/>
          </p:nvGrpSpPr>
          <p:grpSpPr>
            <a:xfrm>
              <a:off x="9147050" y="-9029"/>
              <a:ext cx="3505333" cy="6858000"/>
              <a:chOff x="0" y="10537"/>
              <a:chExt cx="3505333" cy="6858000"/>
            </a:xfrm>
            <a:solidFill>
              <a:srgbClr val="8E42F4"/>
            </a:solidFill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6180616-3872-4F62-905B-B29DAC5DEB1C}"/>
                  </a:ext>
                </a:extLst>
              </p:cNvPr>
              <p:cNvSpPr/>
              <p:nvPr/>
            </p:nvSpPr>
            <p:spPr>
              <a:xfrm>
                <a:off x="0" y="10537"/>
                <a:ext cx="3044952" cy="68580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/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63FAFD8-E539-2E27-B977-6F0C53BB46F2}"/>
                  </a:ext>
                </a:extLst>
              </p:cNvPr>
              <p:cNvSpPr txBox="1"/>
              <p:nvPr/>
            </p:nvSpPr>
            <p:spPr>
              <a:xfrm>
                <a:off x="116767" y="2070206"/>
                <a:ext cx="2811416" cy="52322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bg2"/>
                    </a:solidFill>
                    <a:latin typeface="Avenir Next LT Pro Demi" panose="020B0704020202020204" pitchFamily="34" charset="0"/>
                  </a:rPr>
                  <a:t>Networking</a:t>
                </a:r>
              </a:p>
            </p:txBody>
          </p:sp>
          <p:sp>
            <p:nvSpPr>
              <p:cNvPr id="45" name="Isosceles Triangle 44">
                <a:extLst>
                  <a:ext uri="{FF2B5EF4-FFF2-40B4-BE49-F238E27FC236}">
                    <a16:creationId xmlns:a16="http://schemas.microsoft.com/office/drawing/2014/main" id="{597CFAB3-AF9B-58FF-0496-01634F60839D}"/>
                  </a:ext>
                </a:extLst>
              </p:cNvPr>
              <p:cNvSpPr/>
              <p:nvPr/>
            </p:nvSpPr>
            <p:spPr>
              <a:xfrm rot="5400000">
                <a:off x="2702450" y="536695"/>
                <a:ext cx="1145383" cy="460382"/>
              </a:xfrm>
              <a:prstGeom prst="triangle">
                <a:avLst>
                  <a:gd name="adj" fmla="val 50000"/>
                </a:avLst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/>
                  </a:solidFill>
                  <a:latin typeface="Avenir Next LT Pro Demi" panose="020B0704020202020204" pitchFamily="34" charset="0"/>
                </a:endParaRPr>
              </a:p>
            </p:txBody>
          </p:sp>
        </p:grpSp>
        <p:pic>
          <p:nvPicPr>
            <p:cNvPr id="47" name="Graphic 46" descr="Wireless router with solid fill">
              <a:extLst>
                <a:ext uri="{FF2B5EF4-FFF2-40B4-BE49-F238E27FC236}">
                  <a16:creationId xmlns:a16="http://schemas.microsoft.com/office/drawing/2014/main" id="{50EF76EB-5492-53F7-1304-A48C668E3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12325" y="928607"/>
              <a:ext cx="914400" cy="91440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FCC17B5-3CEB-49BF-1451-A29DA51152D7}"/>
              </a:ext>
            </a:extLst>
          </p:cNvPr>
          <p:cNvGrpSpPr/>
          <p:nvPr/>
        </p:nvGrpSpPr>
        <p:grpSpPr>
          <a:xfrm>
            <a:off x="6074516" y="-9029"/>
            <a:ext cx="3486765" cy="6858000"/>
            <a:chOff x="6108466" y="-9029"/>
            <a:chExt cx="3486765" cy="685800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B7FF985-C38E-C319-F797-91E1CD1B3548}"/>
                </a:ext>
              </a:extLst>
            </p:cNvPr>
            <p:cNvGrpSpPr/>
            <p:nvPr/>
          </p:nvGrpSpPr>
          <p:grpSpPr>
            <a:xfrm>
              <a:off x="6108466" y="-9029"/>
              <a:ext cx="3486765" cy="6858000"/>
              <a:chOff x="18568" y="-7521"/>
              <a:chExt cx="3486765" cy="6858000"/>
            </a:xfrm>
            <a:solidFill>
              <a:srgbClr val="6539C3"/>
            </a:solidFill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7150447-7743-6941-3DCF-A2D2BB422A0E}"/>
                  </a:ext>
                </a:extLst>
              </p:cNvPr>
              <p:cNvSpPr/>
              <p:nvPr/>
            </p:nvSpPr>
            <p:spPr>
              <a:xfrm>
                <a:off x="18568" y="-7521"/>
                <a:ext cx="3044952" cy="68580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/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257AAAA-D9EC-462F-9671-29EBF60170F7}"/>
                  </a:ext>
                </a:extLst>
              </p:cNvPr>
              <p:cNvSpPr txBox="1"/>
              <p:nvPr/>
            </p:nvSpPr>
            <p:spPr>
              <a:xfrm>
                <a:off x="116767" y="2070206"/>
                <a:ext cx="2811416" cy="52322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bg2"/>
                    </a:solidFill>
                    <a:latin typeface="Avenir Next LT Pro Demi" panose="020B0704020202020204" pitchFamily="34" charset="0"/>
                  </a:rPr>
                  <a:t>Robotics</a:t>
                </a:r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8470231C-1D13-69C0-4866-16919B9B70FE}"/>
                  </a:ext>
                </a:extLst>
              </p:cNvPr>
              <p:cNvSpPr/>
              <p:nvPr/>
            </p:nvSpPr>
            <p:spPr>
              <a:xfrm rot="5400000">
                <a:off x="2702450" y="536695"/>
                <a:ext cx="1145383" cy="460382"/>
              </a:xfrm>
              <a:prstGeom prst="triangle">
                <a:avLst>
                  <a:gd name="adj" fmla="val 50000"/>
                </a:avLst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/>
                  </a:solidFill>
                  <a:latin typeface="Avenir Next LT Pro Demi" panose="020B0704020202020204" pitchFamily="34" charset="0"/>
                </a:endParaRPr>
              </a:p>
            </p:txBody>
          </p:sp>
        </p:grpSp>
        <p:pic>
          <p:nvPicPr>
            <p:cNvPr id="38" name="Graphic 37" descr="Robot Hand with solid fill">
              <a:extLst>
                <a:ext uri="{FF2B5EF4-FFF2-40B4-BE49-F238E27FC236}">
                  <a16:creationId xmlns:a16="http://schemas.microsoft.com/office/drawing/2014/main" id="{63075BAA-705A-8BAE-490B-DF9BBC9B4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51992" y="928607"/>
              <a:ext cx="914400" cy="9144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F83D4CA-A92A-A055-1060-9741128E1B7F}"/>
              </a:ext>
            </a:extLst>
          </p:cNvPr>
          <p:cNvGrpSpPr/>
          <p:nvPr/>
        </p:nvGrpSpPr>
        <p:grpSpPr>
          <a:xfrm>
            <a:off x="3048131" y="-9029"/>
            <a:ext cx="3493133" cy="6858000"/>
            <a:chOff x="3038582" y="9029"/>
            <a:chExt cx="3493133" cy="6858000"/>
          </a:xfrm>
          <a:solidFill>
            <a:srgbClr val="332E86"/>
          </a:solidFill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783D526-3AAB-A5CD-9F8F-24143F5BBA70}"/>
                </a:ext>
              </a:extLst>
            </p:cNvPr>
            <p:cNvGrpSpPr/>
            <p:nvPr/>
          </p:nvGrpSpPr>
          <p:grpSpPr>
            <a:xfrm>
              <a:off x="3038582" y="9029"/>
              <a:ext cx="3493133" cy="6858000"/>
              <a:chOff x="-6368" y="9783"/>
              <a:chExt cx="3493133" cy="6858000"/>
            </a:xfrm>
            <a:grp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863EED6-3CA4-C15E-B67D-1FEC7A78BB06}"/>
                  </a:ext>
                </a:extLst>
              </p:cNvPr>
              <p:cNvSpPr/>
              <p:nvPr/>
            </p:nvSpPr>
            <p:spPr>
              <a:xfrm>
                <a:off x="-6368" y="9783"/>
                <a:ext cx="3044952" cy="68580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/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F8C78C-C954-E1FA-89FA-41C18AFF6C52}"/>
                  </a:ext>
                </a:extLst>
              </p:cNvPr>
              <p:cNvSpPr txBox="1"/>
              <p:nvPr/>
            </p:nvSpPr>
            <p:spPr>
              <a:xfrm>
                <a:off x="116767" y="2070206"/>
                <a:ext cx="2811416" cy="52322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bg2"/>
                    </a:solidFill>
                    <a:latin typeface="Avenir Next LT Pro Demi" panose="020B0704020202020204" pitchFamily="34" charset="0"/>
                  </a:rPr>
                  <a:t>Circuit Routing</a:t>
                </a:r>
              </a:p>
            </p:txBody>
          </p:sp>
          <p:sp>
            <p:nvSpPr>
              <p:cNvPr id="15" name="Isosceles Triangle 14">
                <a:extLst>
                  <a:ext uri="{FF2B5EF4-FFF2-40B4-BE49-F238E27FC236}">
                    <a16:creationId xmlns:a16="http://schemas.microsoft.com/office/drawing/2014/main" id="{74906D9E-40A9-56FD-09E9-876755554AE4}"/>
                  </a:ext>
                </a:extLst>
              </p:cNvPr>
              <p:cNvSpPr/>
              <p:nvPr/>
            </p:nvSpPr>
            <p:spPr>
              <a:xfrm rot="5400000">
                <a:off x="2683882" y="536696"/>
                <a:ext cx="1145383" cy="460382"/>
              </a:xfrm>
              <a:prstGeom prst="triangle">
                <a:avLst>
                  <a:gd name="adj" fmla="val 50000"/>
                </a:avLst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/>
                  </a:solidFill>
                  <a:latin typeface="Avenir Next LT Pro Demi" panose="020B0704020202020204" pitchFamily="34" charset="0"/>
                </a:endParaRPr>
              </a:p>
            </p:txBody>
          </p:sp>
        </p:grpSp>
        <p:pic>
          <p:nvPicPr>
            <p:cNvPr id="23" name="Graphic 22" descr="Processor with solid fill">
              <a:extLst>
                <a:ext uri="{FF2B5EF4-FFF2-40B4-BE49-F238E27FC236}">
                  <a16:creationId xmlns:a16="http://schemas.microsoft.com/office/drawing/2014/main" id="{4D5A150E-A8FD-72BC-51B0-3CF9C4160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13408" y="928607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9754651-5BA4-285D-2166-FE72DDF35BB9}"/>
              </a:ext>
            </a:extLst>
          </p:cNvPr>
          <p:cNvGrpSpPr/>
          <p:nvPr/>
        </p:nvGrpSpPr>
        <p:grpSpPr>
          <a:xfrm>
            <a:off x="0" y="-9029"/>
            <a:ext cx="3505333" cy="6858000"/>
            <a:chOff x="0" y="-1"/>
            <a:chExt cx="3505333" cy="6858000"/>
          </a:xfrm>
          <a:solidFill>
            <a:srgbClr val="072552"/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486AC0D-41EB-43C7-5756-CFCEFD102A36}"/>
                </a:ext>
              </a:extLst>
            </p:cNvPr>
            <p:cNvGrpSpPr/>
            <p:nvPr/>
          </p:nvGrpSpPr>
          <p:grpSpPr>
            <a:xfrm>
              <a:off x="0" y="-1"/>
              <a:ext cx="3505333" cy="6858000"/>
              <a:chOff x="0" y="-1"/>
              <a:chExt cx="3505333" cy="6858000"/>
            </a:xfrm>
            <a:grpFill/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8AD3692-CD7D-7DC9-0EE6-C4C0F70B2390}"/>
                  </a:ext>
                </a:extLst>
              </p:cNvPr>
              <p:cNvSpPr/>
              <p:nvPr/>
            </p:nvSpPr>
            <p:spPr>
              <a:xfrm>
                <a:off x="0" y="-1"/>
                <a:ext cx="3044952" cy="6858000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/>
                  </a:solidFill>
                  <a:latin typeface="Avenir Next LT Pro Demi" panose="020B0704020202020204" pitchFamily="34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7E230F1-3461-B331-8CAE-03AD28507558}"/>
                  </a:ext>
                </a:extLst>
              </p:cNvPr>
              <p:cNvSpPr txBox="1"/>
              <p:nvPr/>
            </p:nvSpPr>
            <p:spPr>
              <a:xfrm>
                <a:off x="116767" y="2070206"/>
                <a:ext cx="2811416" cy="52322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bg2"/>
                    </a:solidFill>
                    <a:latin typeface="Avenir Next LT Pro Demi" panose="020B0704020202020204" pitchFamily="34" charset="0"/>
                  </a:rPr>
                  <a:t>Logistics</a:t>
                </a:r>
              </a:p>
            </p:txBody>
          </p:sp>
          <p:sp>
            <p:nvSpPr>
              <p:cNvPr id="9" name="Isosceles Triangle 8">
                <a:extLst>
                  <a:ext uri="{FF2B5EF4-FFF2-40B4-BE49-F238E27FC236}">
                    <a16:creationId xmlns:a16="http://schemas.microsoft.com/office/drawing/2014/main" id="{4278022E-3EFA-72E5-07F6-E2C39D7F4523}"/>
                  </a:ext>
                </a:extLst>
              </p:cNvPr>
              <p:cNvSpPr/>
              <p:nvPr/>
            </p:nvSpPr>
            <p:spPr>
              <a:xfrm rot="5400000">
                <a:off x="2702450" y="536695"/>
                <a:ext cx="1145383" cy="460382"/>
              </a:xfrm>
              <a:prstGeom prst="triangle">
                <a:avLst>
                  <a:gd name="adj" fmla="val 50000"/>
                </a:avLst>
              </a:prstGeom>
              <a:grp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/>
                  </a:solidFill>
                  <a:latin typeface="Avenir Next LT Pro Demi" panose="020B0704020202020204" pitchFamily="34" charset="0"/>
                </a:endParaRPr>
              </a:p>
            </p:txBody>
          </p:sp>
        </p:grpSp>
        <p:pic>
          <p:nvPicPr>
            <p:cNvPr id="17" name="Graphic 16" descr="Box with solid fill">
              <a:extLst>
                <a:ext uri="{FF2B5EF4-FFF2-40B4-BE49-F238E27FC236}">
                  <a16:creationId xmlns:a16="http://schemas.microsoft.com/office/drawing/2014/main" id="{4417C7DA-044A-D097-873E-E64FF6431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65275" y="928607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075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  <a:latin typeface="Avenir Next LT Pro Demi" panose="020B0704020202020204" pitchFamily="34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solidFill>
                <a:schemeClr val="bg2"/>
              </a:solidFill>
              <a:latin typeface="Avenir Next LT Pro Demi" panose="020B07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2"/>
                </a:solidFill>
                <a:latin typeface="Avenir Next LT Pro Demi" panose="020B0704020202020204" pitchFamily="34" charset="0"/>
              </a:rPr>
              <a:t>Goal: Implement and compare three TSP algorithms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2"/>
                </a:solidFill>
                <a:latin typeface="Avenir Next LT Pro Demi" panose="020B0704020202020204" pitchFamily="34" charset="0"/>
              </a:rPr>
              <a:t>Algorithms: Brute Force, Greedy, Christofides.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2"/>
                </a:solidFill>
                <a:latin typeface="Avenir Next LT Pro Demi" panose="020B0704020202020204" pitchFamily="34" charset="0"/>
              </a:rPr>
              <a:t>Visualize results using SVG path renderings</a:t>
            </a:r>
            <a:r>
              <a:rPr lang="en-US">
                <a:solidFill>
                  <a:schemeClr val="bg2"/>
                </a:solidFill>
                <a:latin typeface="Avenir Next LT Pro Demi" panose="020B0704020202020204" pitchFamily="34" charset="0"/>
              </a:rPr>
              <a:t>.</a:t>
            </a:r>
            <a:endParaRPr lang="en-US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2"/>
                </a:solidFill>
                <a:latin typeface="Avenir Next LT Pro Demi" panose="020B0704020202020204" pitchFamily="34" charset="0"/>
              </a:rPr>
              <a:t>Input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Points read from text file.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Grid coordinates mapped to 800x800 SVG.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Program outputs optimal or near-optimal path visualizations.</a:t>
            </a:r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A782E6B-A26A-BD37-549F-D9892737CF3B}"/>
              </a:ext>
            </a:extLst>
          </p:cNvPr>
          <p:cNvSpPr/>
          <p:nvPr/>
        </p:nvSpPr>
        <p:spPr>
          <a:xfrm>
            <a:off x="-12192000" y="0"/>
            <a:ext cx="12192000" cy="6858000"/>
          </a:xfrm>
          <a:prstGeom prst="rect">
            <a:avLst/>
          </a:prstGeom>
          <a:solidFill>
            <a:srgbClr val="653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9ABFAE-DA06-86F4-573B-14DEF8C8F0AB}"/>
              </a:ext>
            </a:extLst>
          </p:cNvPr>
          <p:cNvSpPr/>
          <p:nvPr/>
        </p:nvSpPr>
        <p:spPr>
          <a:xfrm>
            <a:off x="-13265426" y="0"/>
            <a:ext cx="12192000" cy="6858000"/>
          </a:xfrm>
          <a:prstGeom prst="rect">
            <a:avLst/>
          </a:prstGeom>
          <a:solidFill>
            <a:srgbClr val="332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4CC03E2-DBE5-B42B-6CDE-920CB4E1A466}"/>
              </a:ext>
            </a:extLst>
          </p:cNvPr>
          <p:cNvSpPr txBox="1">
            <a:spLocks/>
          </p:cNvSpPr>
          <p:nvPr/>
        </p:nvSpPr>
        <p:spPr>
          <a:xfrm>
            <a:off x="-18452327" y="1751278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Checks all possible permutations of cities.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Guarantees optimal path.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Time complexity: O(n!).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Only feasible for small n.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DF73A0-4B0A-76DD-748B-250149163A99}"/>
              </a:ext>
            </a:extLst>
          </p:cNvPr>
          <p:cNvGrpSpPr/>
          <p:nvPr/>
        </p:nvGrpSpPr>
        <p:grpSpPr>
          <a:xfrm>
            <a:off x="-12067761" y="260152"/>
            <a:ext cx="1596150" cy="1596150"/>
            <a:chOff x="1197665" y="260152"/>
            <a:chExt cx="1596150" cy="159615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40FCCF8-7140-7059-9BCE-A3A763682161}"/>
                </a:ext>
              </a:extLst>
            </p:cNvPr>
            <p:cNvSpPr/>
            <p:nvPr/>
          </p:nvSpPr>
          <p:spPr>
            <a:xfrm>
              <a:off x="1197665" y="260152"/>
              <a:ext cx="1596150" cy="15961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Graphic 14" descr="Boxing Glove with solid fill">
              <a:extLst>
                <a:ext uri="{FF2B5EF4-FFF2-40B4-BE49-F238E27FC236}">
                  <a16:creationId xmlns:a16="http://schemas.microsoft.com/office/drawing/2014/main" id="{DBBAB015-0DA2-A587-EE6D-BFCA25BE9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38540" y="601027"/>
              <a:ext cx="914400" cy="914400"/>
            </a:xfrm>
            <a:prstGeom prst="rect">
              <a:avLst/>
            </a:prstGeom>
          </p:spPr>
        </p:pic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8CF99EB3-DAB9-0E4F-8EEE-4A5870997EF7}"/>
              </a:ext>
            </a:extLst>
          </p:cNvPr>
          <p:cNvSpPr txBox="1">
            <a:spLocks/>
          </p:cNvSpPr>
          <p:nvPr/>
        </p:nvSpPr>
        <p:spPr>
          <a:xfrm>
            <a:off x="3155342" y="2857500"/>
            <a:ext cx="58813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Brute Force Algorithm</a:t>
            </a:r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D8FE9-6543-F10D-B248-B16B8EFF4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9243453-D7FC-98BF-D750-660D94D3B5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53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F6BE50-6027-0D9A-9CCC-93C44C9623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2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609ECC4-FE50-151C-AF4D-AADE4B6A1376}"/>
              </a:ext>
            </a:extLst>
          </p:cNvPr>
          <p:cNvSpPr txBox="1">
            <a:spLocks/>
          </p:cNvSpPr>
          <p:nvPr/>
        </p:nvSpPr>
        <p:spPr>
          <a:xfrm>
            <a:off x="609600" y="1751278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Checks all possible permutations of cities.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Guarantees optimal path.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Time complexity: O(n!).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Only feasible for small n.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DE3C3D1-283A-E6AC-64C7-490021A66B78}"/>
              </a:ext>
            </a:extLst>
          </p:cNvPr>
          <p:cNvGrpSpPr/>
          <p:nvPr/>
        </p:nvGrpSpPr>
        <p:grpSpPr>
          <a:xfrm>
            <a:off x="1197665" y="260152"/>
            <a:ext cx="1596150" cy="1596150"/>
            <a:chOff x="1197665" y="260152"/>
            <a:chExt cx="1596150" cy="159615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F68483A-B69E-5E55-96D6-5EA542D773CA}"/>
                </a:ext>
              </a:extLst>
            </p:cNvPr>
            <p:cNvSpPr/>
            <p:nvPr/>
          </p:nvSpPr>
          <p:spPr>
            <a:xfrm>
              <a:off x="1197665" y="260152"/>
              <a:ext cx="1596150" cy="15961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Graphic 20" descr="Boxing Glove with solid fill">
              <a:extLst>
                <a:ext uri="{FF2B5EF4-FFF2-40B4-BE49-F238E27FC236}">
                  <a16:creationId xmlns:a16="http://schemas.microsoft.com/office/drawing/2014/main" id="{F0690F19-BD52-2B01-E36F-6C72810CC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38540" y="601027"/>
              <a:ext cx="914400" cy="914400"/>
            </a:xfrm>
            <a:prstGeom prst="rect">
              <a:avLst/>
            </a:prstGeom>
          </p:spPr>
        </p:pic>
      </p:grpSp>
      <p:sp>
        <p:nvSpPr>
          <p:cNvPr id="22" name="Title 1">
            <a:extLst>
              <a:ext uri="{FF2B5EF4-FFF2-40B4-BE49-F238E27FC236}">
                <a16:creationId xmlns:a16="http://schemas.microsoft.com/office/drawing/2014/main" id="{043EB715-B403-7D8E-B7C9-DF8871D974C5}"/>
              </a:ext>
            </a:extLst>
          </p:cNvPr>
          <p:cNvSpPr txBox="1">
            <a:spLocks/>
          </p:cNvSpPr>
          <p:nvPr/>
        </p:nvSpPr>
        <p:spPr>
          <a:xfrm>
            <a:off x="3155342" y="486727"/>
            <a:ext cx="58813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Brute Force Algorithm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905B049-EE62-9044-6FDE-FF95490E9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7093851"/>
            <a:ext cx="8229600" cy="1351655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Factorial and explosive growth in runtime with small increase in n cities, anything past ~13-14 is impractical</a:t>
            </a:r>
            <a:endParaRPr sz="2800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24" name="Picture 23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146EDCAF-B044-6B1F-F1B9-CB8582EA2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4156" y="8524809"/>
            <a:ext cx="7863688" cy="349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223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2CD56-B4E7-6591-6C3D-074AC3418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36B69C5D-A66D-D63D-331E-DC68E361C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156" y="3000951"/>
            <a:ext cx="7863688" cy="349497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B81136A-F367-6A6C-BE7D-A9112BAD5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3"/>
            <a:ext cx="8229600" cy="1351655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Factorial and explosive growth in runtime with small increase in n cities, anything past ~13-14 is impractical</a:t>
            </a:r>
            <a:endParaRPr sz="2800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CB33D9-DA2D-BC7B-846F-C597F161FF78}"/>
              </a:ext>
            </a:extLst>
          </p:cNvPr>
          <p:cNvSpPr txBox="1">
            <a:spLocks/>
          </p:cNvSpPr>
          <p:nvPr/>
        </p:nvSpPr>
        <p:spPr>
          <a:xfrm>
            <a:off x="3155342" y="486727"/>
            <a:ext cx="58813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Brute Force Algorithm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1A619B-2429-67AC-A2AB-28B2A750B7C2}"/>
              </a:ext>
            </a:extLst>
          </p:cNvPr>
          <p:cNvSpPr/>
          <p:nvPr/>
        </p:nvSpPr>
        <p:spPr>
          <a:xfrm>
            <a:off x="0" y="-6928011"/>
            <a:ext cx="12192000" cy="6858000"/>
          </a:xfrm>
          <a:prstGeom prst="rect">
            <a:avLst/>
          </a:prstGeom>
          <a:solidFill>
            <a:srgbClr val="332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838EF53-ABAB-CD56-1200-BCF4A66EA67B}"/>
              </a:ext>
            </a:extLst>
          </p:cNvPr>
          <p:cNvSpPr txBox="1">
            <a:spLocks/>
          </p:cNvSpPr>
          <p:nvPr/>
        </p:nvSpPr>
        <p:spPr>
          <a:xfrm>
            <a:off x="609600" y="-517673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Checks all possible permutations of cities.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Guarantees optimal path.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Time complexity: O(n!).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Only feasible for small n.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0EB68AA-A177-F19C-E685-93DC08E77EFF}"/>
              </a:ext>
            </a:extLst>
          </p:cNvPr>
          <p:cNvGrpSpPr/>
          <p:nvPr/>
        </p:nvGrpSpPr>
        <p:grpSpPr>
          <a:xfrm>
            <a:off x="1197665" y="-6667859"/>
            <a:ext cx="1596150" cy="1596150"/>
            <a:chOff x="1197665" y="260152"/>
            <a:chExt cx="1596150" cy="159615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7DA9BF6-AEE4-B78D-9872-3B149911923E}"/>
                </a:ext>
              </a:extLst>
            </p:cNvPr>
            <p:cNvSpPr/>
            <p:nvPr/>
          </p:nvSpPr>
          <p:spPr>
            <a:xfrm>
              <a:off x="1197665" y="260152"/>
              <a:ext cx="1596150" cy="15961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 descr="Boxing Glove with solid fill">
              <a:extLst>
                <a:ext uri="{FF2B5EF4-FFF2-40B4-BE49-F238E27FC236}">
                  <a16:creationId xmlns:a16="http://schemas.microsoft.com/office/drawing/2014/main" id="{7DF1CF3F-EA7A-50D2-15C4-4B0B302B9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38540" y="601027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0853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B6CC6-7A9D-C760-B726-253336C06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2872070D-BA66-6C3B-83DB-2A0EDCDFAE03}"/>
              </a:ext>
            </a:extLst>
          </p:cNvPr>
          <p:cNvSpPr txBox="1">
            <a:spLocks/>
          </p:cNvSpPr>
          <p:nvPr/>
        </p:nvSpPr>
        <p:spPr>
          <a:xfrm>
            <a:off x="3155342" y="2857500"/>
            <a:ext cx="58813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Greedy Algorithm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5BF3BA-D8EA-46CD-61BC-7473BEDA5DD6}"/>
              </a:ext>
            </a:extLst>
          </p:cNvPr>
          <p:cNvSpPr/>
          <p:nvPr/>
        </p:nvSpPr>
        <p:spPr>
          <a:xfrm>
            <a:off x="0" y="6858000"/>
            <a:ext cx="12192000" cy="6858000"/>
          </a:xfrm>
          <a:prstGeom prst="rect">
            <a:avLst/>
          </a:prstGeom>
          <a:solidFill>
            <a:srgbClr val="653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BC0EBB-DA97-D05E-01BE-C82517B025F9}"/>
              </a:ext>
            </a:extLst>
          </p:cNvPr>
          <p:cNvSpPr/>
          <p:nvPr/>
        </p:nvSpPr>
        <p:spPr>
          <a:xfrm>
            <a:off x="0" y="7227736"/>
            <a:ext cx="12192000" cy="6858000"/>
          </a:xfrm>
          <a:prstGeom prst="rect">
            <a:avLst/>
          </a:prstGeom>
          <a:solidFill>
            <a:srgbClr val="332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21B4F6A-D395-2308-CF37-B68D37361B23}"/>
              </a:ext>
            </a:extLst>
          </p:cNvPr>
          <p:cNvSpPr txBox="1">
            <a:spLocks/>
          </p:cNvSpPr>
          <p:nvPr/>
        </p:nvSpPr>
        <p:spPr>
          <a:xfrm>
            <a:off x="609600" y="8827939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Pick a starting city, repeatedly choose nearest unvisited neighbor.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Time complexity: O(n²).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Not guaranteed to find optimal, but often decent.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B42E247-7FAD-DF93-F728-9B979EDEC86D}"/>
              </a:ext>
            </a:extLst>
          </p:cNvPr>
          <p:cNvGrpSpPr/>
          <p:nvPr/>
        </p:nvGrpSpPr>
        <p:grpSpPr>
          <a:xfrm>
            <a:off x="1279700" y="7595561"/>
            <a:ext cx="1596150" cy="1596150"/>
            <a:chOff x="5297925" y="334986"/>
            <a:chExt cx="1596150" cy="15961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F510868-57B7-B020-DDFC-7BA8CF175F49}"/>
                </a:ext>
              </a:extLst>
            </p:cNvPr>
            <p:cNvSpPr/>
            <p:nvPr/>
          </p:nvSpPr>
          <p:spPr>
            <a:xfrm>
              <a:off x="5297925" y="334986"/>
              <a:ext cx="1596150" cy="15961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 descr="Piggy Bank with solid fill">
              <a:extLst>
                <a:ext uri="{FF2B5EF4-FFF2-40B4-BE49-F238E27FC236}">
                  <a16:creationId xmlns:a16="http://schemas.microsoft.com/office/drawing/2014/main" id="{21DD8E2A-0618-A38D-EC50-28324D6D8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38800" y="675861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7828873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E710A-F272-F489-6889-42D24D45F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D51CBFC-67BE-949E-2422-5397B3B09F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53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7D351-2858-08D1-DC1E-B8C7116015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2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C42D0E-3DB7-EFD9-0920-A0CFE41F3E2D}"/>
              </a:ext>
            </a:extLst>
          </p:cNvPr>
          <p:cNvSpPr txBox="1">
            <a:spLocks/>
          </p:cNvSpPr>
          <p:nvPr/>
        </p:nvSpPr>
        <p:spPr>
          <a:xfrm>
            <a:off x="3155342" y="486727"/>
            <a:ext cx="58813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Greedy Algorithm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00022E-4010-5431-847F-4AC7C6A86D21}"/>
              </a:ext>
            </a:extLst>
          </p:cNvPr>
          <p:cNvSpPr txBox="1">
            <a:spLocks/>
          </p:cNvSpPr>
          <p:nvPr/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Pick a starting city, repeatedly choose nearest unvisited neighbor.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Time complexity: O(n²).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Not guaranteed to find optimal, but often decent.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9DB13BE-6836-29EC-6C51-DD821BB8D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71492" y="1600203"/>
            <a:ext cx="8229600" cy="135165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Polynomial growth in runtime: O(n²)</a:t>
            </a:r>
            <a:endParaRPr sz="2800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C6712D-025B-6C05-D81D-1499EBAA8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2929" y="3007657"/>
            <a:ext cx="8229600" cy="343404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F4E7984-2E41-09E5-1BB8-0723AE8DCBEC}"/>
              </a:ext>
            </a:extLst>
          </p:cNvPr>
          <p:cNvGrpSpPr/>
          <p:nvPr/>
        </p:nvGrpSpPr>
        <p:grpSpPr>
          <a:xfrm>
            <a:off x="1279700" y="245390"/>
            <a:ext cx="1596150" cy="1596150"/>
            <a:chOff x="5297925" y="334986"/>
            <a:chExt cx="1596150" cy="159615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F08AE8C-62AB-808E-EDEE-A452B25B141B}"/>
                </a:ext>
              </a:extLst>
            </p:cNvPr>
            <p:cNvSpPr/>
            <p:nvPr/>
          </p:nvSpPr>
          <p:spPr>
            <a:xfrm>
              <a:off x="5297925" y="334986"/>
              <a:ext cx="1596150" cy="15961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 descr="Piggy Bank with solid fill">
              <a:extLst>
                <a:ext uri="{FF2B5EF4-FFF2-40B4-BE49-F238E27FC236}">
                  <a16:creationId xmlns:a16="http://schemas.microsoft.com/office/drawing/2014/main" id="{BA082E89-F39E-84E6-12E8-476B5202E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38800" y="675861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19228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6D677-4886-4D86-818B-F449A95CF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0C40E4-732E-AFFC-E0A5-252CC4CA4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3"/>
            <a:ext cx="8229600" cy="135165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Polynomial growth in runtime: O(n²)</a:t>
            </a:r>
            <a:endParaRPr sz="2800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D0A433-808B-C55F-5B65-A66CC987B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007657"/>
            <a:ext cx="8229600" cy="343404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31C33E4-5F2D-B052-8299-AAE38D9724D5}"/>
              </a:ext>
            </a:extLst>
          </p:cNvPr>
          <p:cNvSpPr txBox="1">
            <a:spLocks/>
          </p:cNvSpPr>
          <p:nvPr/>
        </p:nvSpPr>
        <p:spPr>
          <a:xfrm>
            <a:off x="3155342" y="486727"/>
            <a:ext cx="58813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Greedy Algorithm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AE6F0D-7E73-BA82-9FDA-6B583FA406B8}"/>
              </a:ext>
            </a:extLst>
          </p:cNvPr>
          <p:cNvSpPr/>
          <p:nvPr/>
        </p:nvSpPr>
        <p:spPr>
          <a:xfrm>
            <a:off x="-12192000" y="0"/>
            <a:ext cx="12192000" cy="6858000"/>
          </a:xfrm>
          <a:prstGeom prst="rect">
            <a:avLst/>
          </a:prstGeom>
          <a:solidFill>
            <a:srgbClr val="332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9F60D7A-06A1-F30C-D606-B5719ABCA847}"/>
              </a:ext>
            </a:extLst>
          </p:cNvPr>
          <p:cNvSpPr txBox="1">
            <a:spLocks/>
          </p:cNvSpPr>
          <p:nvPr/>
        </p:nvSpPr>
        <p:spPr>
          <a:xfrm>
            <a:off x="-115824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Pick a starting city, repeatedly choose nearest unvisited neighbor.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Time complexity: O(n²).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Not guaranteed to find optimal, but often decent.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3477AE-BF5A-AEAD-A6FF-F4AFB7C752C2}"/>
              </a:ext>
            </a:extLst>
          </p:cNvPr>
          <p:cNvGrpSpPr/>
          <p:nvPr/>
        </p:nvGrpSpPr>
        <p:grpSpPr>
          <a:xfrm>
            <a:off x="-11126857" y="260152"/>
            <a:ext cx="1596150" cy="1596150"/>
            <a:chOff x="5297925" y="334986"/>
            <a:chExt cx="1596150" cy="159615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5F50BF9-FFAA-FF9A-4F47-834CF088DAAC}"/>
                </a:ext>
              </a:extLst>
            </p:cNvPr>
            <p:cNvSpPr/>
            <p:nvPr/>
          </p:nvSpPr>
          <p:spPr>
            <a:xfrm>
              <a:off x="5297925" y="334986"/>
              <a:ext cx="1596150" cy="15961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" name="Graphic 14" descr="Piggy Bank with solid fill">
              <a:extLst>
                <a:ext uri="{FF2B5EF4-FFF2-40B4-BE49-F238E27FC236}">
                  <a16:creationId xmlns:a16="http://schemas.microsoft.com/office/drawing/2014/main" id="{DC6FA12B-5437-A3E9-420C-8E7B55180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38800" y="675861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7356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85CD300-CEBD-602D-F526-1B446F787B39}"/>
              </a:ext>
            </a:extLst>
          </p:cNvPr>
          <p:cNvSpPr txBox="1">
            <a:spLocks/>
          </p:cNvSpPr>
          <p:nvPr/>
        </p:nvSpPr>
        <p:spPr>
          <a:xfrm>
            <a:off x="16301499" y="2857500"/>
            <a:ext cx="58813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chemeClr val="bg2"/>
                </a:solidFill>
                <a:latin typeface="Avenir Next LT Pro Demi" panose="020B0704020202020204" pitchFamily="34" charset="0"/>
              </a:rPr>
              <a:t>Christofides</a:t>
            </a: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 Algorithm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BFB0FA-62BA-5081-DCBA-1CD9F75E318D}"/>
              </a:ext>
            </a:extLst>
          </p:cNvPr>
          <p:cNvSpPr/>
          <p:nvPr/>
        </p:nvSpPr>
        <p:spPr>
          <a:xfrm>
            <a:off x="12192000" y="7951"/>
            <a:ext cx="12192000" cy="6858000"/>
          </a:xfrm>
          <a:prstGeom prst="rect">
            <a:avLst/>
          </a:prstGeom>
          <a:solidFill>
            <a:srgbClr val="653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6AA0E4-0465-8D74-B953-A1B9AA5D3E27}"/>
              </a:ext>
            </a:extLst>
          </p:cNvPr>
          <p:cNvSpPr/>
          <p:nvPr/>
        </p:nvSpPr>
        <p:spPr>
          <a:xfrm>
            <a:off x="13146157" y="7951"/>
            <a:ext cx="12192000" cy="6858000"/>
          </a:xfrm>
          <a:prstGeom prst="rect">
            <a:avLst/>
          </a:prstGeom>
          <a:solidFill>
            <a:srgbClr val="332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E6FACEF-08EC-5F61-3CB0-DCBF78C98180}"/>
              </a:ext>
            </a:extLst>
          </p:cNvPr>
          <p:cNvSpPr txBox="1">
            <a:spLocks/>
          </p:cNvSpPr>
          <p:nvPr/>
        </p:nvSpPr>
        <p:spPr>
          <a:xfrm>
            <a:off x="3155342" y="2857500"/>
            <a:ext cx="58813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chemeClr val="bg2"/>
                </a:solidFill>
                <a:latin typeface="Avenir Next LT Pro Demi" panose="020B0704020202020204" pitchFamily="34" charset="0"/>
              </a:rPr>
              <a:t>Christofides</a:t>
            </a: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 Algorithm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62E707D-E5F7-384A-D605-A153B39CD91F}"/>
              </a:ext>
            </a:extLst>
          </p:cNvPr>
          <p:cNvSpPr txBox="1">
            <a:spLocks/>
          </p:cNvSpPr>
          <p:nvPr/>
        </p:nvSpPr>
        <p:spPr>
          <a:xfrm>
            <a:off x="13755757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1. Compute Minimum Spanning Tree (MST).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2. Match odd-degree vertices.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3. Build Eulerian cycle.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4. Shortcut to Hamiltonian cycle.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Guarantees ≤ 1.5 × optimal length.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8F6A4EE-4B26-CFE8-8209-A4B22A6A768C}"/>
              </a:ext>
            </a:extLst>
          </p:cNvPr>
          <p:cNvGrpSpPr/>
          <p:nvPr/>
        </p:nvGrpSpPr>
        <p:grpSpPr>
          <a:xfrm>
            <a:off x="14343822" y="260152"/>
            <a:ext cx="1596150" cy="1596150"/>
            <a:chOff x="1197665" y="260152"/>
            <a:chExt cx="1596150" cy="159615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5086ADC-A049-DA0E-39D1-E42F2E7D3C56}"/>
                </a:ext>
              </a:extLst>
            </p:cNvPr>
            <p:cNvSpPr/>
            <p:nvPr/>
          </p:nvSpPr>
          <p:spPr>
            <a:xfrm>
              <a:off x="1197665" y="260152"/>
              <a:ext cx="1596150" cy="15961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pic>
          <p:nvPicPr>
            <p:cNvPr id="23" name="Graphic 22" descr="Abacus with solid fill">
              <a:extLst>
                <a:ext uri="{FF2B5EF4-FFF2-40B4-BE49-F238E27FC236}">
                  <a16:creationId xmlns:a16="http://schemas.microsoft.com/office/drawing/2014/main" id="{D50CFD3B-114D-AD97-6624-0998DA4B4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38540" y="601027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59437-6466-8A8C-03C8-0ACEBA1DE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961754D-57E8-9AB5-BE5C-F3B06428F1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53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C76D5F-BC95-7D88-E995-DC17DD13E3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2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CA6B51-14A1-55A5-2B97-7C6484EAED57}"/>
              </a:ext>
            </a:extLst>
          </p:cNvPr>
          <p:cNvSpPr txBox="1">
            <a:spLocks/>
          </p:cNvSpPr>
          <p:nvPr/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1. Compute Minimum Spanning Tree (MST).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2. Match odd-degree vertices.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3. Build Eulerian cycle.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4. Shortcut to Hamiltonian cycle.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Guarantees ≤ 1.5 × optimal length.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F77DE39-F9DC-DD96-F004-32D3402F7E3F}"/>
              </a:ext>
            </a:extLst>
          </p:cNvPr>
          <p:cNvGrpSpPr/>
          <p:nvPr/>
        </p:nvGrpSpPr>
        <p:grpSpPr>
          <a:xfrm>
            <a:off x="1197665" y="260152"/>
            <a:ext cx="1596150" cy="1596150"/>
            <a:chOff x="1197665" y="260152"/>
            <a:chExt cx="1596150" cy="15961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C333D1C-EA9C-7FB6-9E22-CB1425805E50}"/>
                </a:ext>
              </a:extLst>
            </p:cNvPr>
            <p:cNvSpPr/>
            <p:nvPr/>
          </p:nvSpPr>
          <p:spPr>
            <a:xfrm>
              <a:off x="1197665" y="260152"/>
              <a:ext cx="1596150" cy="15961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pic>
          <p:nvPicPr>
            <p:cNvPr id="14" name="Graphic 13" descr="Abacus with solid fill">
              <a:extLst>
                <a:ext uri="{FF2B5EF4-FFF2-40B4-BE49-F238E27FC236}">
                  <a16:creationId xmlns:a16="http://schemas.microsoft.com/office/drawing/2014/main" id="{3F435344-C872-26C4-88E9-8606D2C1F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38540" y="601027"/>
              <a:ext cx="914400" cy="9144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963568-9C04-159E-ED20-6C80C09232C5}"/>
              </a:ext>
            </a:extLst>
          </p:cNvPr>
          <p:cNvSpPr txBox="1">
            <a:spLocks/>
          </p:cNvSpPr>
          <p:nvPr/>
        </p:nvSpPr>
        <p:spPr>
          <a:xfrm>
            <a:off x="3155342" y="486727"/>
            <a:ext cx="58813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chemeClr val="bg2"/>
                </a:solidFill>
                <a:latin typeface="Avenir Next LT Pro Demi" panose="020B0704020202020204" pitchFamily="34" charset="0"/>
              </a:rPr>
              <a:t>Christofides</a:t>
            </a: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 Algorithm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B382112-2A77-B84B-6F7A-953B6C3C8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523632" y="1467337"/>
            <a:ext cx="8229600" cy="135165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Polynomial growth in runtime: approximately O(n³).</a:t>
            </a:r>
            <a:endParaRPr sz="2800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26DB61A-C477-2D15-5634-0D9BFEB780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410774" y="2543632"/>
            <a:ext cx="7953436" cy="419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626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135D6-CCB9-D936-C459-22A006638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FC3E3DC-CD5C-132A-2DE0-48CDA92F4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67337"/>
            <a:ext cx="8229600" cy="135165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Polynomial growth in runtime: approximately O(n³).</a:t>
            </a:r>
            <a:endParaRPr sz="2800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C18890-07A9-650E-8DFD-FA53A5DFC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282" y="2543632"/>
            <a:ext cx="7953436" cy="419023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10AAFE2-F82A-639C-6A5A-7F7705D14304}"/>
              </a:ext>
            </a:extLst>
          </p:cNvPr>
          <p:cNvSpPr txBox="1">
            <a:spLocks/>
          </p:cNvSpPr>
          <p:nvPr/>
        </p:nvSpPr>
        <p:spPr>
          <a:xfrm>
            <a:off x="3155342" y="486727"/>
            <a:ext cx="58813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chemeClr val="bg2"/>
                </a:solidFill>
                <a:latin typeface="Avenir Next LT Pro Demi" panose="020B0704020202020204" pitchFamily="34" charset="0"/>
              </a:rPr>
              <a:t>Christofides</a:t>
            </a: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 Algorithm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776351-976F-D12A-6C54-65DEF550E183}"/>
              </a:ext>
            </a:extLst>
          </p:cNvPr>
          <p:cNvSpPr/>
          <p:nvPr/>
        </p:nvSpPr>
        <p:spPr>
          <a:xfrm>
            <a:off x="12356328" y="0"/>
            <a:ext cx="12192000" cy="6858000"/>
          </a:xfrm>
          <a:prstGeom prst="rect">
            <a:avLst/>
          </a:prstGeom>
          <a:solidFill>
            <a:srgbClr val="332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301BD1-DDA8-0F68-32B2-5CCD95CEB59D}"/>
              </a:ext>
            </a:extLst>
          </p:cNvPr>
          <p:cNvSpPr txBox="1">
            <a:spLocks/>
          </p:cNvSpPr>
          <p:nvPr/>
        </p:nvSpPr>
        <p:spPr>
          <a:xfrm>
            <a:off x="12965928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1. Compute Minimum Spanning Tree (MST).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2. Match odd-degree vertices.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3. Build Eulerian cycle.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4. Shortcut to Hamiltonian cycle.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Guarantees ≤ 1.5 × optimal length.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CE1B261-EB0A-6F48-B698-8A35E54B8792}"/>
              </a:ext>
            </a:extLst>
          </p:cNvPr>
          <p:cNvGrpSpPr/>
          <p:nvPr/>
        </p:nvGrpSpPr>
        <p:grpSpPr>
          <a:xfrm>
            <a:off x="13553993" y="260152"/>
            <a:ext cx="1596150" cy="1596150"/>
            <a:chOff x="1197665" y="260152"/>
            <a:chExt cx="1596150" cy="159615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A70624A-75BE-0495-6BCC-2B9B9A8C05B5}"/>
                </a:ext>
              </a:extLst>
            </p:cNvPr>
            <p:cNvSpPr/>
            <p:nvPr/>
          </p:nvSpPr>
          <p:spPr>
            <a:xfrm>
              <a:off x="1197665" y="260152"/>
              <a:ext cx="1596150" cy="15961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pic>
          <p:nvPicPr>
            <p:cNvPr id="14" name="Graphic 13" descr="Abacus with solid fill">
              <a:extLst>
                <a:ext uri="{FF2B5EF4-FFF2-40B4-BE49-F238E27FC236}">
                  <a16:creationId xmlns:a16="http://schemas.microsoft.com/office/drawing/2014/main" id="{C7E1EE71-0EE0-747A-FFCF-541E3AF9E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38540" y="601027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7692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127A4-1310-5215-2749-8CAF1B5DF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AA6FF2-639A-3260-82A4-0776A26EC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125814"/>
              </p:ext>
            </p:extLst>
          </p:nvPr>
        </p:nvGraphicFramePr>
        <p:xfrm>
          <a:off x="1865334" y="7003425"/>
          <a:ext cx="8461331" cy="6350791"/>
        </p:xfrm>
        <a:graphic>
          <a:graphicData uri="http://schemas.openxmlformats.org/drawingml/2006/table">
            <a:tbl>
              <a:tblPr/>
              <a:tblGrid>
                <a:gridCol w="1946430">
                  <a:extLst>
                    <a:ext uri="{9D8B030D-6E8A-4147-A177-3AD203B41FA5}">
                      <a16:colId xmlns:a16="http://schemas.microsoft.com/office/drawing/2014/main" val="3226432847"/>
                    </a:ext>
                  </a:extLst>
                </a:gridCol>
                <a:gridCol w="2026857">
                  <a:extLst>
                    <a:ext uri="{9D8B030D-6E8A-4147-A177-3AD203B41FA5}">
                      <a16:colId xmlns:a16="http://schemas.microsoft.com/office/drawing/2014/main" val="3670676572"/>
                    </a:ext>
                  </a:extLst>
                </a:gridCol>
                <a:gridCol w="2139462">
                  <a:extLst>
                    <a:ext uri="{9D8B030D-6E8A-4147-A177-3AD203B41FA5}">
                      <a16:colId xmlns:a16="http://schemas.microsoft.com/office/drawing/2014/main" val="1620849763"/>
                    </a:ext>
                  </a:extLst>
                </a:gridCol>
                <a:gridCol w="2348582">
                  <a:extLst>
                    <a:ext uri="{9D8B030D-6E8A-4147-A177-3AD203B41FA5}">
                      <a16:colId xmlns:a16="http://schemas.microsoft.com/office/drawing/2014/main" val="1169260734"/>
                    </a:ext>
                  </a:extLst>
                </a:gridCol>
              </a:tblGrid>
              <a:tr h="26623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 (cities)</a:t>
                      </a:r>
                      <a:endParaRPr lang="en-US" sz="1050" dirty="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algorithm</a:t>
                      </a:r>
                      <a:endParaRPr lang="en-US" sz="1050" dirty="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tour length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runtime (ms)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325547"/>
                  </a:ext>
                </a:extLst>
              </a:tr>
              <a:tr h="17806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5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1142.95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513341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1211.4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849393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1142.95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887735"/>
                  </a:ext>
                </a:extLst>
              </a:tr>
              <a:tr h="19775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1426.29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12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050234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1469.17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850271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1433.18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518409"/>
                  </a:ext>
                </a:extLst>
              </a:tr>
              <a:tr h="17806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10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1653.38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9582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1653.38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702179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1653.38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980365"/>
                  </a:ext>
                </a:extLst>
              </a:tr>
              <a:tr h="17806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13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1303.74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4679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218782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1353.34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3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122980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1303.74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695870"/>
                  </a:ext>
                </a:extLst>
              </a:tr>
              <a:tr h="17806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20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N/A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N/A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83265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2828.28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3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243828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2447.67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3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428640"/>
                  </a:ext>
                </a:extLst>
              </a:tr>
              <a:tr h="17806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50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N/A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N/A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704175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3913.34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6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523298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3987.21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7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288511"/>
                  </a:ext>
                </a:extLst>
              </a:tr>
              <a:tr h="17806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100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N/A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N/A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950101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4933.26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11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308510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4591.5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11</a:t>
                      </a:r>
                      <a:endParaRPr lang="en-US" sz="1050" dirty="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684010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2EE58FEC-D851-BE7A-A4B1-0669F1BAB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553" y="16123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schemeClr val="bg2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ABFA294-8C15-7E18-D184-B7BE4F8A3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753172"/>
            <a:ext cx="8229600" cy="1351655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The following table summarizes the raw experimental results, including the number of cities in each dataset as well as the tour length and runtime produced by each algorithm.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9F99DA4-0D0E-7BF7-01D6-579BF98EDC09}"/>
              </a:ext>
            </a:extLst>
          </p:cNvPr>
          <p:cNvSpPr txBox="1">
            <a:spLocks/>
          </p:cNvSpPr>
          <p:nvPr/>
        </p:nvSpPr>
        <p:spPr>
          <a:xfrm>
            <a:off x="3155342" y="1361370"/>
            <a:ext cx="58813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082831202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57897-B720-BC0B-4693-3EB46613C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A7EDD00-B6F0-1FBB-9B72-856B9E95B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3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schemeClr val="bg2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A825780-97D7-B13F-81AA-6B3576097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553" y="16123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schemeClr val="bg2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C22633B-EAA1-CB5E-35CB-62CDDDA4D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553" y="-255789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schemeClr val="bg2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872A709-588F-0DAD-1323-EBC4D6D0A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-1417107"/>
            <a:ext cx="8229600" cy="1351655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The following table summarizes the raw experimental results, including the number of cities in each dataset as well as the tour length and runtime produced by each algorithm.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7EE015E-84C7-F228-CFD3-E03C2822116E}"/>
              </a:ext>
            </a:extLst>
          </p:cNvPr>
          <p:cNvSpPr txBox="1">
            <a:spLocks/>
          </p:cNvSpPr>
          <p:nvPr/>
        </p:nvSpPr>
        <p:spPr>
          <a:xfrm>
            <a:off x="3155342" y="-2247218"/>
            <a:ext cx="58813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Results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47797ED-9E7E-E1D2-0022-A19DF5BAC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303978" y="380490"/>
            <a:ext cx="8229600" cy="1546502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The graph below shows how close each heuristic comes to the optimal tour. </a:t>
            </a:r>
            <a:r>
              <a:rPr lang="en-US" sz="2000" dirty="0" err="1">
                <a:solidFill>
                  <a:schemeClr val="bg2"/>
                </a:solidFill>
                <a:latin typeface="Avenir Next LT Pro Demi" panose="020B0704020202020204" pitchFamily="34" charset="0"/>
              </a:rPr>
              <a:t>Christofides</a:t>
            </a:r>
            <a:r>
              <a:rPr lang="en-US" sz="2000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 stays at or near a perfect optimality ratio, while Greedy produces slightly longer tours.</a:t>
            </a:r>
            <a:br>
              <a:rPr lang="en-US" sz="2000" dirty="0">
                <a:solidFill>
                  <a:schemeClr val="bg2"/>
                </a:solidFill>
                <a:latin typeface="Avenir Next LT Pro Demi" panose="020B0704020202020204" pitchFamily="34" charset="0"/>
              </a:rPr>
            </a:br>
            <a:br>
              <a:rPr lang="en-US" sz="2000" dirty="0">
                <a:solidFill>
                  <a:schemeClr val="bg2"/>
                </a:solidFill>
                <a:latin typeface="Avenir Next LT Pro Demi" panose="020B0704020202020204" pitchFamily="34" charset="0"/>
              </a:rPr>
            </a:br>
            <a:endParaRPr sz="2000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950DD782-52F2-29B2-C37D-C4D845745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515427" y="1787364"/>
            <a:ext cx="7980542" cy="479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AFCA643-9EDA-8209-FF29-1E93C94EF30F}"/>
              </a:ext>
            </a:extLst>
          </p:cNvPr>
          <p:cNvGraphicFramePr>
            <a:graphicFrameLocks noGrp="1"/>
          </p:cNvGraphicFramePr>
          <p:nvPr/>
        </p:nvGraphicFramePr>
        <p:xfrm>
          <a:off x="1865334" y="507209"/>
          <a:ext cx="8461331" cy="6350791"/>
        </p:xfrm>
        <a:graphic>
          <a:graphicData uri="http://schemas.openxmlformats.org/drawingml/2006/table">
            <a:tbl>
              <a:tblPr/>
              <a:tblGrid>
                <a:gridCol w="1946430">
                  <a:extLst>
                    <a:ext uri="{9D8B030D-6E8A-4147-A177-3AD203B41FA5}">
                      <a16:colId xmlns:a16="http://schemas.microsoft.com/office/drawing/2014/main" val="3226432847"/>
                    </a:ext>
                  </a:extLst>
                </a:gridCol>
                <a:gridCol w="2026857">
                  <a:extLst>
                    <a:ext uri="{9D8B030D-6E8A-4147-A177-3AD203B41FA5}">
                      <a16:colId xmlns:a16="http://schemas.microsoft.com/office/drawing/2014/main" val="3670676572"/>
                    </a:ext>
                  </a:extLst>
                </a:gridCol>
                <a:gridCol w="2139462">
                  <a:extLst>
                    <a:ext uri="{9D8B030D-6E8A-4147-A177-3AD203B41FA5}">
                      <a16:colId xmlns:a16="http://schemas.microsoft.com/office/drawing/2014/main" val="1620849763"/>
                    </a:ext>
                  </a:extLst>
                </a:gridCol>
                <a:gridCol w="2348582">
                  <a:extLst>
                    <a:ext uri="{9D8B030D-6E8A-4147-A177-3AD203B41FA5}">
                      <a16:colId xmlns:a16="http://schemas.microsoft.com/office/drawing/2014/main" val="1169260734"/>
                    </a:ext>
                  </a:extLst>
                </a:gridCol>
              </a:tblGrid>
              <a:tr h="26623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 (cities)</a:t>
                      </a:r>
                      <a:endParaRPr lang="en-US" sz="1050" dirty="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algorithm</a:t>
                      </a:r>
                      <a:endParaRPr lang="en-US" sz="1050" dirty="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tour length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runtime (ms)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325547"/>
                  </a:ext>
                </a:extLst>
              </a:tr>
              <a:tr h="17806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5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1142.95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513341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1211.4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849393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1142.95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887735"/>
                  </a:ext>
                </a:extLst>
              </a:tr>
              <a:tr h="19775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1426.29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12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050234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1469.17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850271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1433.18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518409"/>
                  </a:ext>
                </a:extLst>
              </a:tr>
              <a:tr h="17806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10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1653.38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9582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1653.38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702179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1653.38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980365"/>
                  </a:ext>
                </a:extLst>
              </a:tr>
              <a:tr h="17806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13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1303.74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4679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218782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1353.34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3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122980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1303.74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695870"/>
                  </a:ext>
                </a:extLst>
              </a:tr>
              <a:tr h="17806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20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N/A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N/A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83265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2828.28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3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243828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2447.67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3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428640"/>
                  </a:ext>
                </a:extLst>
              </a:tr>
              <a:tr h="17806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50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N/A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N/A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704175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3913.34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6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523298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3987.21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7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288511"/>
                  </a:ext>
                </a:extLst>
              </a:tr>
              <a:tr h="17806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100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N/A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N/A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950101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4933.26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11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308510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4591.5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11</a:t>
                      </a:r>
                      <a:endParaRPr lang="en-US" sz="1050" dirty="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684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7151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393D5-5493-F6C7-C984-5DEFB049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6466F-69D7-A522-2924-0FD52C436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0490"/>
            <a:ext cx="8229600" cy="1546502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The graph below shows how close each heuristic comes to the optimal tour. </a:t>
            </a:r>
            <a:r>
              <a:rPr lang="en-US" sz="2000" dirty="0" err="1">
                <a:solidFill>
                  <a:schemeClr val="bg2"/>
                </a:solidFill>
                <a:latin typeface="Avenir Next LT Pro Demi" panose="020B0704020202020204" pitchFamily="34" charset="0"/>
              </a:rPr>
              <a:t>Christofides</a:t>
            </a:r>
            <a:r>
              <a:rPr lang="en-US" sz="2000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 stays at or near a perfect optimality ratio, while Greedy produces slightly longer tours.</a:t>
            </a:r>
            <a:br>
              <a:rPr lang="en-US" sz="2000" dirty="0">
                <a:solidFill>
                  <a:schemeClr val="bg2"/>
                </a:solidFill>
                <a:latin typeface="Avenir Next LT Pro Demi" panose="020B0704020202020204" pitchFamily="34" charset="0"/>
              </a:rPr>
            </a:br>
            <a:br>
              <a:rPr lang="en-US" sz="2000" dirty="0">
                <a:solidFill>
                  <a:schemeClr val="bg2"/>
                </a:solidFill>
                <a:latin typeface="Avenir Next LT Pro Demi" panose="020B0704020202020204" pitchFamily="34" charset="0"/>
              </a:rPr>
            </a:br>
            <a:endParaRPr sz="2000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5469AAF-CA07-0360-B7CB-0200683B8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729" y="1787364"/>
            <a:ext cx="7980542" cy="479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15D6FF6-A1A9-7B19-F420-118DB9D75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63322"/>
              </p:ext>
            </p:extLst>
          </p:nvPr>
        </p:nvGraphicFramePr>
        <p:xfrm>
          <a:off x="1865334" y="7090889"/>
          <a:ext cx="8461331" cy="6350791"/>
        </p:xfrm>
        <a:graphic>
          <a:graphicData uri="http://schemas.openxmlformats.org/drawingml/2006/table">
            <a:tbl>
              <a:tblPr/>
              <a:tblGrid>
                <a:gridCol w="1946430">
                  <a:extLst>
                    <a:ext uri="{9D8B030D-6E8A-4147-A177-3AD203B41FA5}">
                      <a16:colId xmlns:a16="http://schemas.microsoft.com/office/drawing/2014/main" val="3226432847"/>
                    </a:ext>
                  </a:extLst>
                </a:gridCol>
                <a:gridCol w="2026857">
                  <a:extLst>
                    <a:ext uri="{9D8B030D-6E8A-4147-A177-3AD203B41FA5}">
                      <a16:colId xmlns:a16="http://schemas.microsoft.com/office/drawing/2014/main" val="3670676572"/>
                    </a:ext>
                  </a:extLst>
                </a:gridCol>
                <a:gridCol w="2139462">
                  <a:extLst>
                    <a:ext uri="{9D8B030D-6E8A-4147-A177-3AD203B41FA5}">
                      <a16:colId xmlns:a16="http://schemas.microsoft.com/office/drawing/2014/main" val="1620849763"/>
                    </a:ext>
                  </a:extLst>
                </a:gridCol>
                <a:gridCol w="2348582">
                  <a:extLst>
                    <a:ext uri="{9D8B030D-6E8A-4147-A177-3AD203B41FA5}">
                      <a16:colId xmlns:a16="http://schemas.microsoft.com/office/drawing/2014/main" val="1169260734"/>
                    </a:ext>
                  </a:extLst>
                </a:gridCol>
              </a:tblGrid>
              <a:tr h="26623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 (cities)</a:t>
                      </a:r>
                      <a:endParaRPr lang="en-US" sz="1050" dirty="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algorithm</a:t>
                      </a:r>
                      <a:endParaRPr lang="en-US" sz="1050" dirty="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tour length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runtime (ms)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325547"/>
                  </a:ext>
                </a:extLst>
              </a:tr>
              <a:tr h="17806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5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1142.95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513341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1211.4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849393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1142.95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887735"/>
                  </a:ext>
                </a:extLst>
              </a:tr>
              <a:tr h="19775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1426.29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12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050234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1469.17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850271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1433.18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518409"/>
                  </a:ext>
                </a:extLst>
              </a:tr>
              <a:tr h="17806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10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1653.38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9582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1653.38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702179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1653.38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980365"/>
                  </a:ext>
                </a:extLst>
              </a:tr>
              <a:tr h="17806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13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1303.74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4679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218782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1353.34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3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122980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1303.74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695870"/>
                  </a:ext>
                </a:extLst>
              </a:tr>
              <a:tr h="17806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20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N/A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N/A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83265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2828.28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3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243828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2447.67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3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428640"/>
                  </a:ext>
                </a:extLst>
              </a:tr>
              <a:tr h="17806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50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N/A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N/A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704175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3913.34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6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523298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3987.21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7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288511"/>
                  </a:ext>
                </a:extLst>
              </a:tr>
              <a:tr h="178069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100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brute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N/A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N/A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950101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greedy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4933.26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11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308510"/>
                  </a:ext>
                </a:extLst>
              </a:tr>
              <a:tr h="335228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br>
                        <a:rPr lang="en-US" sz="1050">
                          <a:effectLst/>
                        </a:rPr>
                      </a:b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christofides</a:t>
                      </a:r>
                      <a:endParaRPr lang="en-US" sz="1050">
                        <a:effectLst/>
                      </a:endParaRPr>
                    </a:p>
                  </a:txBody>
                  <a:tcPr marL="11153" marR="11153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4591.5</a:t>
                      </a:r>
                      <a:endParaRPr lang="en-US" sz="105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11</a:t>
                      </a:r>
                      <a:endParaRPr lang="en-US" sz="1050" dirty="0">
                        <a:effectLst/>
                      </a:endParaRPr>
                    </a:p>
                  </a:txBody>
                  <a:tcPr marL="33460" marR="33460" marT="11153" marB="1115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684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7375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9FDED-0B7E-BE2A-6E94-DB19E4E45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>
            <a:extLst>
              <a:ext uri="{FF2B5EF4-FFF2-40B4-BE49-F238E27FC236}">
                <a16:creationId xmlns:a16="http://schemas.microsoft.com/office/drawing/2014/main" id="{46E4ED76-A369-6B3E-562E-B0090620450E}"/>
              </a:ext>
            </a:extLst>
          </p:cNvPr>
          <p:cNvSpPr txBox="1">
            <a:spLocks/>
          </p:cNvSpPr>
          <p:nvPr/>
        </p:nvSpPr>
        <p:spPr>
          <a:xfrm>
            <a:off x="2452941" y="2857500"/>
            <a:ext cx="72861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Comparing the algorithms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824300F-2ABD-1DE9-86CF-182E0A0FC963}"/>
              </a:ext>
            </a:extLst>
          </p:cNvPr>
          <p:cNvGrpSpPr/>
          <p:nvPr/>
        </p:nvGrpSpPr>
        <p:grpSpPr>
          <a:xfrm>
            <a:off x="0" y="9330855"/>
            <a:ext cx="4031310" cy="6858000"/>
            <a:chOff x="0" y="0"/>
            <a:chExt cx="4031310" cy="685800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921AE6B-40F8-6ED2-4F88-7DC745FD7FB3}"/>
                </a:ext>
              </a:extLst>
            </p:cNvPr>
            <p:cNvSpPr/>
            <p:nvPr/>
          </p:nvSpPr>
          <p:spPr>
            <a:xfrm>
              <a:off x="0" y="0"/>
              <a:ext cx="4031310" cy="6858000"/>
            </a:xfrm>
            <a:prstGeom prst="rect">
              <a:avLst/>
            </a:prstGeom>
            <a:solidFill>
              <a:srgbClr val="332E8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63C8231-4FC5-D4FB-7C5C-F1A1B8434075}"/>
                </a:ext>
              </a:extLst>
            </p:cNvPr>
            <p:cNvSpPr txBox="1"/>
            <p:nvPr/>
          </p:nvSpPr>
          <p:spPr>
            <a:xfrm>
              <a:off x="485027" y="2266122"/>
              <a:ext cx="30612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Brute Force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3C56B63-1544-F790-7CB0-CD722E3307DD}"/>
                </a:ext>
              </a:extLst>
            </p:cNvPr>
            <p:cNvSpPr txBox="1"/>
            <p:nvPr/>
          </p:nvSpPr>
          <p:spPr>
            <a:xfrm>
              <a:off x="485027" y="3212327"/>
              <a:ext cx="30612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Exact but slow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848FC20-8D0C-4F92-0B56-77282A67B471}"/>
                </a:ext>
              </a:extLst>
            </p:cNvPr>
            <p:cNvGrpSpPr/>
            <p:nvPr/>
          </p:nvGrpSpPr>
          <p:grpSpPr>
            <a:xfrm>
              <a:off x="1197665" y="334986"/>
              <a:ext cx="1596150" cy="1596150"/>
              <a:chOff x="1197665" y="260152"/>
              <a:chExt cx="1596150" cy="1596150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8E0C357-612E-5226-AC8B-74EA8621BC52}"/>
                  </a:ext>
                </a:extLst>
              </p:cNvPr>
              <p:cNvSpPr/>
              <p:nvPr/>
            </p:nvSpPr>
            <p:spPr>
              <a:xfrm>
                <a:off x="1197665" y="260152"/>
                <a:ext cx="1596150" cy="159615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0" name="Graphic 49" descr="Boxing Glove with solid fill">
                <a:extLst>
                  <a:ext uri="{FF2B5EF4-FFF2-40B4-BE49-F238E27FC236}">
                    <a16:creationId xmlns:a16="http://schemas.microsoft.com/office/drawing/2014/main" id="{3B43BAB5-33D7-9BDF-5B51-8B8097E638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38540" y="601027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DC50688-EB52-5C4A-6EB0-A839DE3D1CF0}"/>
              </a:ext>
            </a:extLst>
          </p:cNvPr>
          <p:cNvGrpSpPr/>
          <p:nvPr/>
        </p:nvGrpSpPr>
        <p:grpSpPr>
          <a:xfrm>
            <a:off x="4031310" y="7533861"/>
            <a:ext cx="4129380" cy="6858000"/>
            <a:chOff x="4031310" y="0"/>
            <a:chExt cx="4129380" cy="685800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984DBCC-4F9E-5028-D75F-D93FED8C7CB8}"/>
                </a:ext>
              </a:extLst>
            </p:cNvPr>
            <p:cNvSpPr/>
            <p:nvPr/>
          </p:nvSpPr>
          <p:spPr>
            <a:xfrm>
              <a:off x="4031310" y="0"/>
              <a:ext cx="4129380" cy="6858000"/>
            </a:xfrm>
            <a:prstGeom prst="rect">
              <a:avLst/>
            </a:prstGeom>
            <a:solidFill>
              <a:srgbClr val="6539C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95E39F8-D42D-7487-2C89-D6A6DB893991}"/>
                </a:ext>
              </a:extLst>
            </p:cNvPr>
            <p:cNvGrpSpPr/>
            <p:nvPr/>
          </p:nvGrpSpPr>
          <p:grpSpPr>
            <a:xfrm>
              <a:off x="5297925" y="334986"/>
              <a:ext cx="1596150" cy="1596150"/>
              <a:chOff x="5297925" y="334986"/>
              <a:chExt cx="1596150" cy="159615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C565D39B-0EB1-1397-C4F8-97692B7C6844}"/>
                  </a:ext>
                </a:extLst>
              </p:cNvPr>
              <p:cNvSpPr/>
              <p:nvPr/>
            </p:nvSpPr>
            <p:spPr>
              <a:xfrm>
                <a:off x="5297925" y="334986"/>
                <a:ext cx="1596150" cy="159615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57" name="Graphic 56" descr="Piggy Bank with solid fill">
                <a:extLst>
                  <a:ext uri="{FF2B5EF4-FFF2-40B4-BE49-F238E27FC236}">
                    <a16:creationId xmlns:a16="http://schemas.microsoft.com/office/drawing/2014/main" id="{DB7D82A7-BFC4-9CA0-8EBF-537DC9D61C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38800" y="6758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AEF2D95-6108-70F2-EF2E-573359F5E8AE}"/>
                </a:ext>
              </a:extLst>
            </p:cNvPr>
            <p:cNvSpPr txBox="1"/>
            <p:nvPr/>
          </p:nvSpPr>
          <p:spPr>
            <a:xfrm>
              <a:off x="4565372" y="2266122"/>
              <a:ext cx="30612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Greedy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35B408E-039A-E54F-905F-C00D9B44259D}"/>
                </a:ext>
              </a:extLst>
            </p:cNvPr>
            <p:cNvSpPr txBox="1"/>
            <p:nvPr/>
          </p:nvSpPr>
          <p:spPr>
            <a:xfrm>
              <a:off x="4565372" y="3212327"/>
              <a:ext cx="30612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Fast but only an approximation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63101C3-6AB6-A987-56BA-A75FB49A0A63}"/>
              </a:ext>
            </a:extLst>
          </p:cNvPr>
          <p:cNvGrpSpPr/>
          <p:nvPr/>
        </p:nvGrpSpPr>
        <p:grpSpPr>
          <a:xfrm>
            <a:off x="8160690" y="8607287"/>
            <a:ext cx="4031310" cy="6858000"/>
            <a:chOff x="8160690" y="0"/>
            <a:chExt cx="4031310" cy="685800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9EBCBB4-CB4A-E634-D2B1-B895FC5B6238}"/>
                </a:ext>
              </a:extLst>
            </p:cNvPr>
            <p:cNvSpPr/>
            <p:nvPr/>
          </p:nvSpPr>
          <p:spPr>
            <a:xfrm>
              <a:off x="8160690" y="0"/>
              <a:ext cx="4031310" cy="6858000"/>
            </a:xfrm>
            <a:prstGeom prst="rect">
              <a:avLst/>
            </a:prstGeom>
            <a:solidFill>
              <a:srgbClr val="8E42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B56825A-910D-0FD6-4F28-3DECAB49F836}"/>
                </a:ext>
              </a:extLst>
            </p:cNvPr>
            <p:cNvGrpSpPr/>
            <p:nvPr/>
          </p:nvGrpSpPr>
          <p:grpSpPr>
            <a:xfrm>
              <a:off x="9378270" y="334986"/>
              <a:ext cx="1596150" cy="1596150"/>
              <a:chOff x="1197665" y="260152"/>
              <a:chExt cx="1596150" cy="1596150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F68A10D7-8F23-91F2-04AD-404E5B691BC9}"/>
                  </a:ext>
                </a:extLst>
              </p:cNvPr>
              <p:cNvSpPr/>
              <p:nvPr/>
            </p:nvSpPr>
            <p:spPr>
              <a:xfrm>
                <a:off x="1197665" y="260152"/>
                <a:ext cx="1596150" cy="159615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pic>
            <p:nvPicPr>
              <p:cNvPr id="64" name="Graphic 63" descr="Abacus with solid fill">
                <a:extLst>
                  <a:ext uri="{FF2B5EF4-FFF2-40B4-BE49-F238E27FC236}">
                    <a16:creationId xmlns:a16="http://schemas.microsoft.com/office/drawing/2014/main" id="{6528C691-3E1C-EA10-3180-73B6188CBF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538540" y="601027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B5B610D-97C0-8713-9DC9-E9DF9A85E9CF}"/>
                </a:ext>
              </a:extLst>
            </p:cNvPr>
            <p:cNvSpPr txBox="1"/>
            <p:nvPr/>
          </p:nvSpPr>
          <p:spPr>
            <a:xfrm>
              <a:off x="8645717" y="2266122"/>
              <a:ext cx="30612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 err="1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Christofides</a:t>
              </a:r>
              <a:endParaRPr lang="en-US" sz="3600" dirty="0">
                <a:solidFill>
                  <a:schemeClr val="bg2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FA0E2AB-C5BB-4F51-3D7D-7ED5EE170F85}"/>
                </a:ext>
              </a:extLst>
            </p:cNvPr>
            <p:cNvSpPr txBox="1"/>
            <p:nvPr/>
          </p:nvSpPr>
          <p:spPr>
            <a:xfrm>
              <a:off x="8645717" y="3212327"/>
              <a:ext cx="306125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Very good balance of speed AND accuracy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4161482"/>
      </p:ext>
    </p:extLst>
  </p:cSld>
  <p:clrMapOvr>
    <a:masterClrMapping/>
  </p:clrMapOvr>
  <p:transition spd="slow">
    <p:push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59A50-7289-D83C-82EE-9C0F37F6A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>
            <a:extLst>
              <a:ext uri="{FF2B5EF4-FFF2-40B4-BE49-F238E27FC236}">
                <a16:creationId xmlns:a16="http://schemas.microsoft.com/office/drawing/2014/main" id="{5BAA41C9-35FD-DF42-56E9-8674D55458FC}"/>
              </a:ext>
            </a:extLst>
          </p:cNvPr>
          <p:cNvSpPr txBox="1">
            <a:spLocks/>
          </p:cNvSpPr>
          <p:nvPr/>
        </p:nvSpPr>
        <p:spPr>
          <a:xfrm>
            <a:off x="2452941" y="2857500"/>
            <a:ext cx="72861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Comparing the algorithms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DFE7E74-4B0A-7E0C-6F53-DACE591DEF2F}"/>
              </a:ext>
            </a:extLst>
          </p:cNvPr>
          <p:cNvGrpSpPr/>
          <p:nvPr/>
        </p:nvGrpSpPr>
        <p:grpSpPr>
          <a:xfrm>
            <a:off x="0" y="0"/>
            <a:ext cx="4031310" cy="6858000"/>
            <a:chOff x="0" y="0"/>
            <a:chExt cx="403131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EB782EA-78E4-8DEE-24A4-74BC86783E04}"/>
                </a:ext>
              </a:extLst>
            </p:cNvPr>
            <p:cNvSpPr/>
            <p:nvPr/>
          </p:nvSpPr>
          <p:spPr>
            <a:xfrm>
              <a:off x="0" y="0"/>
              <a:ext cx="4031310" cy="6858000"/>
            </a:xfrm>
            <a:prstGeom prst="rect">
              <a:avLst/>
            </a:prstGeom>
            <a:solidFill>
              <a:srgbClr val="332E8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DB190C2-54CE-C813-000F-7245E3C568B2}"/>
                </a:ext>
              </a:extLst>
            </p:cNvPr>
            <p:cNvSpPr txBox="1"/>
            <p:nvPr/>
          </p:nvSpPr>
          <p:spPr>
            <a:xfrm>
              <a:off x="485027" y="2266122"/>
              <a:ext cx="30612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Brute Force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46E85D3-A943-BAE0-2013-38F3652D734E}"/>
                </a:ext>
              </a:extLst>
            </p:cNvPr>
            <p:cNvSpPr txBox="1"/>
            <p:nvPr/>
          </p:nvSpPr>
          <p:spPr>
            <a:xfrm>
              <a:off x="485027" y="3212327"/>
              <a:ext cx="30612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Exact but slow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83CA76D-15EB-BD5D-EA32-DD4D1FF800B9}"/>
                </a:ext>
              </a:extLst>
            </p:cNvPr>
            <p:cNvGrpSpPr/>
            <p:nvPr/>
          </p:nvGrpSpPr>
          <p:grpSpPr>
            <a:xfrm>
              <a:off x="1197665" y="334986"/>
              <a:ext cx="1596150" cy="1596150"/>
              <a:chOff x="1197665" y="260152"/>
              <a:chExt cx="1596150" cy="159615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FD105A9-07EB-B5DF-9D29-7E6F61B4880A}"/>
                  </a:ext>
                </a:extLst>
              </p:cNvPr>
              <p:cNvSpPr/>
              <p:nvPr/>
            </p:nvSpPr>
            <p:spPr>
              <a:xfrm>
                <a:off x="1197665" y="260152"/>
                <a:ext cx="1596150" cy="159615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3" name="Graphic 22" descr="Boxing Glove with solid fill">
                <a:extLst>
                  <a:ext uri="{FF2B5EF4-FFF2-40B4-BE49-F238E27FC236}">
                    <a16:creationId xmlns:a16="http://schemas.microsoft.com/office/drawing/2014/main" id="{273D6E8F-8C62-752C-4ABC-A7F7F26583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38540" y="601027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93B802F-4E8E-F787-E1D8-8A24A629BAE1}"/>
              </a:ext>
            </a:extLst>
          </p:cNvPr>
          <p:cNvGrpSpPr/>
          <p:nvPr/>
        </p:nvGrpSpPr>
        <p:grpSpPr>
          <a:xfrm>
            <a:off x="4031310" y="0"/>
            <a:ext cx="4129380" cy="6858000"/>
            <a:chOff x="4031310" y="0"/>
            <a:chExt cx="412938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E37F84-323A-2956-47A9-3AC1B29CD366}"/>
                </a:ext>
              </a:extLst>
            </p:cNvPr>
            <p:cNvSpPr/>
            <p:nvPr/>
          </p:nvSpPr>
          <p:spPr>
            <a:xfrm>
              <a:off x="4031310" y="0"/>
              <a:ext cx="4129380" cy="6858000"/>
            </a:xfrm>
            <a:prstGeom prst="rect">
              <a:avLst/>
            </a:prstGeom>
            <a:solidFill>
              <a:srgbClr val="6539C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EDD2EA9-B1DA-FD55-2398-32500D753EF0}"/>
                </a:ext>
              </a:extLst>
            </p:cNvPr>
            <p:cNvGrpSpPr/>
            <p:nvPr/>
          </p:nvGrpSpPr>
          <p:grpSpPr>
            <a:xfrm>
              <a:off x="5297925" y="334986"/>
              <a:ext cx="1596150" cy="1596150"/>
              <a:chOff x="5297925" y="334986"/>
              <a:chExt cx="1596150" cy="159615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54C3A82-6007-D9BF-B56D-1BA08F22BED8}"/>
                  </a:ext>
                </a:extLst>
              </p:cNvPr>
              <p:cNvSpPr/>
              <p:nvPr/>
            </p:nvSpPr>
            <p:spPr>
              <a:xfrm>
                <a:off x="5297925" y="334986"/>
                <a:ext cx="1596150" cy="159615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8" name="Graphic 27" descr="Piggy Bank with solid fill">
                <a:extLst>
                  <a:ext uri="{FF2B5EF4-FFF2-40B4-BE49-F238E27FC236}">
                    <a16:creationId xmlns:a16="http://schemas.microsoft.com/office/drawing/2014/main" id="{B63FCDB0-5716-F684-9EBE-1EB2EBCA61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38800" y="6758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2E642B4-ACC8-2C22-F1EA-EE24A68F8273}"/>
                </a:ext>
              </a:extLst>
            </p:cNvPr>
            <p:cNvSpPr txBox="1"/>
            <p:nvPr/>
          </p:nvSpPr>
          <p:spPr>
            <a:xfrm>
              <a:off x="4565372" y="2266122"/>
              <a:ext cx="30612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Greedy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A2AC5AC-378E-0107-D0B8-35D42FA8ADF8}"/>
                </a:ext>
              </a:extLst>
            </p:cNvPr>
            <p:cNvSpPr txBox="1"/>
            <p:nvPr/>
          </p:nvSpPr>
          <p:spPr>
            <a:xfrm>
              <a:off x="4565372" y="3212327"/>
              <a:ext cx="30612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Fast but only an approximation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2708072-4540-FD15-380D-CE5D6433DC0A}"/>
              </a:ext>
            </a:extLst>
          </p:cNvPr>
          <p:cNvGrpSpPr/>
          <p:nvPr/>
        </p:nvGrpSpPr>
        <p:grpSpPr>
          <a:xfrm>
            <a:off x="8160690" y="0"/>
            <a:ext cx="4031310" cy="6858000"/>
            <a:chOff x="8160690" y="0"/>
            <a:chExt cx="403131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F9B746-4788-A8EA-71A2-C9D341522B11}"/>
                </a:ext>
              </a:extLst>
            </p:cNvPr>
            <p:cNvSpPr/>
            <p:nvPr/>
          </p:nvSpPr>
          <p:spPr>
            <a:xfrm>
              <a:off x="8160690" y="0"/>
              <a:ext cx="4031310" cy="6858000"/>
            </a:xfrm>
            <a:prstGeom prst="rect">
              <a:avLst/>
            </a:prstGeom>
            <a:solidFill>
              <a:srgbClr val="8E42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venir Next LT Pro Demi" panose="020B0704020202020204" pitchFamily="34" charset="0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A23DED2-DE8C-AEBD-7709-C689282E3C86}"/>
                </a:ext>
              </a:extLst>
            </p:cNvPr>
            <p:cNvGrpSpPr/>
            <p:nvPr/>
          </p:nvGrpSpPr>
          <p:grpSpPr>
            <a:xfrm>
              <a:off x="9378270" y="334986"/>
              <a:ext cx="1596150" cy="1596150"/>
              <a:chOff x="1197665" y="260152"/>
              <a:chExt cx="1596150" cy="1596150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B8601DE-4C60-1310-4B99-CA6063B36578}"/>
                  </a:ext>
                </a:extLst>
              </p:cNvPr>
              <p:cNvSpPr/>
              <p:nvPr/>
            </p:nvSpPr>
            <p:spPr>
              <a:xfrm>
                <a:off x="1197665" y="260152"/>
                <a:ext cx="1596150" cy="159615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pic>
            <p:nvPicPr>
              <p:cNvPr id="32" name="Graphic 31" descr="Abacus with solid fill">
                <a:extLst>
                  <a:ext uri="{FF2B5EF4-FFF2-40B4-BE49-F238E27FC236}">
                    <a16:creationId xmlns:a16="http://schemas.microsoft.com/office/drawing/2014/main" id="{D7B2E70F-EF0C-CCE3-7965-A02FD72651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538540" y="601027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DFFE19F-2C88-91F9-CFBA-A74CE2863D55}"/>
                </a:ext>
              </a:extLst>
            </p:cNvPr>
            <p:cNvSpPr txBox="1"/>
            <p:nvPr/>
          </p:nvSpPr>
          <p:spPr>
            <a:xfrm>
              <a:off x="8645717" y="2266122"/>
              <a:ext cx="30612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 err="1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Christofides</a:t>
              </a:r>
              <a:endParaRPr lang="en-US" sz="3600" dirty="0">
                <a:solidFill>
                  <a:schemeClr val="bg2"/>
                </a:solidFill>
                <a:latin typeface="Avenir Next LT Pro Demi" panose="020B07040202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3E9104F-B4C0-34CA-8019-4F178872CDC1}"/>
                </a:ext>
              </a:extLst>
            </p:cNvPr>
            <p:cNvSpPr txBox="1"/>
            <p:nvPr/>
          </p:nvSpPr>
          <p:spPr>
            <a:xfrm>
              <a:off x="8645717" y="3212327"/>
              <a:ext cx="306125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2"/>
                  </a:solidFill>
                  <a:latin typeface="Avenir Next LT Pro Demi" panose="020B0704020202020204" pitchFamily="34" charset="0"/>
                </a:rPr>
                <a:t>Very good balance of speed AND accuracy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121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SVG Visualization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Draws red </a:t>
            </a:r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circles</a:t>
            </a: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 for cities.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Draws lime arrows for directed tour.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Same visual style across all algorithms.</a:t>
            </a:r>
          </a:p>
        </p:txBody>
      </p:sp>
      <p:pic>
        <p:nvPicPr>
          <p:cNvPr id="5" name="Graphic 4" descr="Illustrator with solid fill">
            <a:extLst>
              <a:ext uri="{FF2B5EF4-FFF2-40B4-BE49-F238E27FC236}">
                <a16:creationId xmlns:a16="http://schemas.microsoft.com/office/drawing/2014/main" id="{C668F14B-2DC5-9E53-CBA5-47124C6E2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0125" y="388938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med">
    <p:pull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Matching odd-degree nodes in </a:t>
            </a:r>
            <a:r>
              <a:rPr dirty="0" err="1">
                <a:solidFill>
                  <a:schemeClr val="bg2"/>
                </a:solidFill>
                <a:latin typeface="Avenir Next LT Pro Demi" panose="020B0704020202020204" pitchFamily="34" charset="0"/>
              </a:rPr>
              <a:t>Christofides</a:t>
            </a: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Building Eulerian tours.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Ensuring correct scaling and rendering in SVG.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Debugging cyclic path generation.</a:t>
            </a:r>
          </a:p>
        </p:txBody>
      </p:sp>
      <p:pic>
        <p:nvPicPr>
          <p:cNvPr id="5" name="Graphic 4" descr="Puzzle with solid fill">
            <a:extLst>
              <a:ext uri="{FF2B5EF4-FFF2-40B4-BE49-F238E27FC236}">
                <a16:creationId xmlns:a16="http://schemas.microsoft.com/office/drawing/2014/main" id="{E4721083-7973-6AE0-0A39-5ABB08E33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4525" y="388938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2"/>
                </a:solidFill>
                <a:latin typeface="Avenir Next LT Pro Demi" panose="020B0704020202020204" pitchFamily="34" charset="0"/>
              </a:rPr>
              <a:t>Results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Brute Force matches theoretical expectations.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Greedy varies heavily with starting city.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 err="1">
                <a:solidFill>
                  <a:schemeClr val="bg2"/>
                </a:solidFill>
                <a:latin typeface="Avenir Next LT Pro Demi" panose="020B0704020202020204" pitchFamily="34" charset="0"/>
              </a:rPr>
              <a:t>Christofides</a:t>
            </a: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 consistently close to optimal.</a:t>
            </a:r>
          </a:p>
        </p:txBody>
      </p:sp>
      <p:pic>
        <p:nvPicPr>
          <p:cNvPr id="5" name="Graphic 4" descr="Presentation with pie chart with solid fill">
            <a:extLst>
              <a:ext uri="{FF2B5EF4-FFF2-40B4-BE49-F238E27FC236}">
                <a16:creationId xmlns:a16="http://schemas.microsoft.com/office/drawing/2014/main" id="{98DAE789-0CF7-9296-8E61-990E92CC5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1402" y="388938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We implemented three TSP solvers successfully.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Generated consistent visual outputs.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 err="1">
                <a:solidFill>
                  <a:schemeClr val="bg2"/>
                </a:solidFill>
                <a:latin typeface="Avenir Next LT Pro Demi" panose="020B0704020202020204" pitchFamily="34" charset="0"/>
              </a:rPr>
              <a:t>Christofides</a:t>
            </a: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 offers best practical performance.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Project demonstrates algorithmic trade-offs clearly.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3C8744-DD93-8F37-47E1-08FA12E3E741}"/>
              </a:ext>
            </a:extLst>
          </p:cNvPr>
          <p:cNvSpPr/>
          <p:nvPr/>
        </p:nvSpPr>
        <p:spPr>
          <a:xfrm>
            <a:off x="12192000" y="0"/>
            <a:ext cx="12192000" cy="6886824"/>
          </a:xfrm>
          <a:prstGeom prst="rect">
            <a:avLst/>
          </a:prstGeom>
          <a:solidFill>
            <a:srgbClr val="8E4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BAC99A-EBB7-18F5-C2B9-452FD4F29921}"/>
              </a:ext>
            </a:extLst>
          </p:cNvPr>
          <p:cNvSpPr/>
          <p:nvPr/>
        </p:nvSpPr>
        <p:spPr>
          <a:xfrm>
            <a:off x="12968577" y="0"/>
            <a:ext cx="12192000" cy="6886824"/>
          </a:xfrm>
          <a:prstGeom prst="rect">
            <a:avLst/>
          </a:prstGeom>
          <a:solidFill>
            <a:srgbClr val="332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CAC44B8-409C-0367-97C2-9CDFE413D2D1}"/>
              </a:ext>
            </a:extLst>
          </p:cNvPr>
          <p:cNvSpPr txBox="1">
            <a:spLocks/>
          </p:cNvSpPr>
          <p:nvPr/>
        </p:nvSpPr>
        <p:spPr>
          <a:xfrm>
            <a:off x="17262281" y="3537410"/>
            <a:ext cx="360459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venir Next LT Pro Demi" panose="020B0704020202020204" pitchFamily="34" charset="0"/>
              </a:rPr>
              <a:t>Questions?</a:t>
            </a:r>
            <a:endParaRPr lang="en-US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BF2397B-14F8-0854-194E-8D2875CEDE8E}"/>
              </a:ext>
            </a:extLst>
          </p:cNvPr>
          <p:cNvGrpSpPr/>
          <p:nvPr/>
        </p:nvGrpSpPr>
        <p:grpSpPr>
          <a:xfrm>
            <a:off x="18266502" y="1724440"/>
            <a:ext cx="1596150" cy="1596150"/>
            <a:chOff x="5297925" y="1724440"/>
            <a:chExt cx="1596150" cy="159615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352639B-F6FB-08E8-20B8-9E521DD04B93}"/>
                </a:ext>
              </a:extLst>
            </p:cNvPr>
            <p:cNvSpPr/>
            <p:nvPr/>
          </p:nvSpPr>
          <p:spPr>
            <a:xfrm>
              <a:off x="5297925" y="1724440"/>
              <a:ext cx="1596150" cy="15961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Graphic 14" descr="Question Mark with solid fill">
              <a:extLst>
                <a:ext uri="{FF2B5EF4-FFF2-40B4-BE49-F238E27FC236}">
                  <a16:creationId xmlns:a16="http://schemas.microsoft.com/office/drawing/2014/main" id="{016FD130-BADF-7AC2-6D8D-E84EF809F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38800" y="2065315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168DB-2F0A-59BE-7155-DFD713FCE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F7630AF-6B51-EC3C-BCAA-B0AF17BB72F1}"/>
              </a:ext>
            </a:extLst>
          </p:cNvPr>
          <p:cNvSpPr txBox="1">
            <a:spLocks/>
          </p:cNvSpPr>
          <p:nvPr/>
        </p:nvSpPr>
        <p:spPr>
          <a:xfrm>
            <a:off x="762000" y="4270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venir Next LT Pro Demi" panose="020B0704020202020204" pitchFamily="34" charset="0"/>
              </a:rPr>
              <a:t>Conclusion</a:t>
            </a:r>
            <a:endParaRPr lang="en-US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0270629-4B48-1479-AB44-0A336207436F}"/>
              </a:ext>
            </a:extLst>
          </p:cNvPr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Avenir Next LT Pro Demi" panose="020B0704020202020204" pitchFamily="34" charset="0"/>
              </a:rPr>
              <a:t>Conclusion</a:t>
            </a:r>
            <a:endParaRPr lang="en-US"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D5191E0-F4B6-6C4C-8BB8-601D12738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dirty="0">
              <a:solidFill>
                <a:schemeClr val="bg2"/>
              </a:solidFill>
              <a:latin typeface="Avenir Next LT Pro Demi" panose="020B07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We implemented three TSP solvers successfully.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Generated consistent visual outputs.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 err="1">
                <a:solidFill>
                  <a:schemeClr val="bg2"/>
                </a:solidFill>
                <a:latin typeface="Avenir Next LT Pro Demi" panose="020B0704020202020204" pitchFamily="34" charset="0"/>
              </a:rPr>
              <a:t>Christofides</a:t>
            </a: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 offers best practical performance.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solidFill>
                  <a:schemeClr val="bg2"/>
                </a:solidFill>
                <a:latin typeface="Avenir Next LT Pro Demi" panose="020B0704020202020204" pitchFamily="34" charset="0"/>
              </a:rPr>
              <a:t>Project demonstrates algorithmic trade-offs clearly.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F6CB5E-5BE6-47F3-7A1E-4956D34BD72B}"/>
              </a:ext>
            </a:extLst>
          </p:cNvPr>
          <p:cNvSpPr/>
          <p:nvPr/>
        </p:nvSpPr>
        <p:spPr>
          <a:xfrm>
            <a:off x="0" y="0"/>
            <a:ext cx="12192000" cy="6886824"/>
          </a:xfrm>
          <a:prstGeom prst="rect">
            <a:avLst/>
          </a:prstGeom>
          <a:solidFill>
            <a:srgbClr val="8E4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410037-36EF-A2EE-AD90-4C7623FB5795}"/>
              </a:ext>
            </a:extLst>
          </p:cNvPr>
          <p:cNvSpPr/>
          <p:nvPr/>
        </p:nvSpPr>
        <p:spPr>
          <a:xfrm>
            <a:off x="0" y="0"/>
            <a:ext cx="12192000" cy="6886824"/>
          </a:xfrm>
          <a:prstGeom prst="rect">
            <a:avLst/>
          </a:prstGeom>
          <a:solidFill>
            <a:srgbClr val="332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4C494-F6BD-2B8D-A207-CF135C89F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704" y="3537410"/>
            <a:ext cx="3604592" cy="1143000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  <a:latin typeface="Avenir Next LT Pro Demi" panose="020B0704020202020204" pitchFamily="34" charset="0"/>
              </a:rPr>
              <a:t>Questions?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27F423-F1F5-D698-F156-63A1F8790925}"/>
              </a:ext>
            </a:extLst>
          </p:cNvPr>
          <p:cNvGrpSpPr/>
          <p:nvPr/>
        </p:nvGrpSpPr>
        <p:grpSpPr>
          <a:xfrm>
            <a:off x="5297925" y="1724440"/>
            <a:ext cx="1596150" cy="1596150"/>
            <a:chOff x="5297925" y="1724440"/>
            <a:chExt cx="1596150" cy="159615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4C0CAE0-9D70-1F3D-98A4-6D699379D964}"/>
                </a:ext>
              </a:extLst>
            </p:cNvPr>
            <p:cNvSpPr/>
            <p:nvPr/>
          </p:nvSpPr>
          <p:spPr>
            <a:xfrm>
              <a:off x="5297925" y="1724440"/>
              <a:ext cx="1596150" cy="15961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 descr="Question Mark with solid fill">
              <a:extLst>
                <a:ext uri="{FF2B5EF4-FFF2-40B4-BE49-F238E27FC236}">
                  <a16:creationId xmlns:a16="http://schemas.microsoft.com/office/drawing/2014/main" id="{76ECD1D1-78DF-0D40-4E24-7CB77A652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38800" y="2065315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16728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1213</Words>
  <Application>Microsoft Office PowerPoint</Application>
  <PresentationFormat>Widescreen</PresentationFormat>
  <Paragraphs>415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Avenir Next LT Pro Demi</vt:lpstr>
      <vt:lpstr>Calibri</vt:lpstr>
      <vt:lpstr>Roboto</vt:lpstr>
      <vt:lpstr>Office Theme</vt:lpstr>
      <vt:lpstr>Traveling Salesman Problem (TSP) Project</vt:lpstr>
      <vt:lpstr>What is the TSP?</vt:lpstr>
      <vt:lpstr>What is the TSP?</vt:lpstr>
      <vt:lpstr>Why TSP Matters</vt:lpstr>
      <vt:lpstr>Real world usage?</vt:lpstr>
      <vt:lpstr>Real world usage?</vt:lpstr>
      <vt:lpstr>Project Overview</vt:lpstr>
      <vt:lpstr>Input Format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graph below shows how close each heuristic comes to the optimal tour. Christofides stays at or near a perfect optimality ratio, while Greedy produces slightly longer tours.  </vt:lpstr>
      <vt:lpstr>The graph below shows how close each heuristic comes to the optimal tour. Christofides stays at or near a perfect optimality ratio, while Greedy produces slightly longer tours.  </vt:lpstr>
      <vt:lpstr>PowerPoint Presentation</vt:lpstr>
      <vt:lpstr>PowerPoint Presentation</vt:lpstr>
      <vt:lpstr>SVG Visualization System</vt:lpstr>
      <vt:lpstr>Challenges Faced</vt:lpstr>
      <vt:lpstr>Results &amp; Findings</vt:lpstr>
      <vt:lpstr>Conclusion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Keller, Alex (akkeller42)</cp:lastModifiedBy>
  <cp:revision>10</cp:revision>
  <dcterms:created xsi:type="dcterms:W3CDTF">2013-01-27T09:14:16Z</dcterms:created>
  <dcterms:modified xsi:type="dcterms:W3CDTF">2025-12-01T05:39:28Z</dcterms:modified>
  <cp:category/>
</cp:coreProperties>
</file>